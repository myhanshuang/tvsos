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本页是汇报的定场页，结论先行：TVSOS 调度系统已经建成一套八维指标体系，并从中选出了四个主目标、两个软约束作为后续全局优化的对象。汇报分两部分：先讲指标体系的构成与设计科学性，再讲为什么选这四个目标、它们之间存在怎样的权衡。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后端统计覆盖车辆概况、利用率、时间响应、距离里程、货物吞吐、成本、绿色、公平、可靠性与算法十个子模块，映射为八类业务维度。每项指标都有明确口径、数据来源与前端实时展示——这一页是整套体系的索引，后面逐维展开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指标体系设计遵循六条原则：模块化分层让统计可评审可扩展；口径统一（成本按吨公里、等待按秒、效率按百分比）保证跨指标可比；分布优于均值，P50/P95/P99 能暴露尾部风险；估算透明，装卸与里程估算显式标注且系数可配置；指标驱动决策闭环，Cost F 直接作为调度打分目标；与算法实现解耦，SA 换成精确求解器时指标整体平移。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效率维度由三根支柱支撑：U2 装载率均值与标准差衡量运力深度利用与负载均衡；U4 空驶率直接度量运力浪费，同时是成本与碳排放的共同驱动因子；T2 匹配响应 P50/P95/P99 度量时效，P95 专门暴露尾部劣化。三者在后续优化中都入选为主目标。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成本模型 Cost A 到 F 形成闭环：A 直接成本、B 快运成本、C 效率加公平、D 平台成本、E 风险成本加权得到 F，F 直接驱动 SA 与 NF 的分配打分。C2 单位成本把 F 除以总吨公里归一化，跨场景可比。绿色维度 G1 总碳排放按车型因子计算，G2 单位吨公里碳排可对标行业基准。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公平与可靠维度补齐了效率之外的视角：F1 基尼系数衡量负载是否被少数车垄断；F2 拒单数度量司机意愿与派单质量交互；R4 事故数、R5 维修中车辆、R6 休息中司机由随机事件引擎量化，事件流可追溯到最近十条。这些指标随机性不可控，因此作风险监控而不直接优化。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全局优化的本质是多目标权衡。当前 Cost F 把多个目标加权成一个数，权重一旦固定，某些维度就被隐性牺牲。因此必须显式承认：优化任一指标时，其他指标可能不是最优。提高装载率会让订单拼车等待更久、响应变差；压低空驶率会让车辆原地等单、响应变慢——这正是帕累托视角要处理的问题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优化对象选型遵循三个条件：可计算、可优化、业务价值高。最终框架是四主目标加两软约束：C2 单位成本作为裁决目标、U2 装载率、U4 空驶率、T2 响应 P95 作为过程主目标；F1 基尼系数与 G2 单位碳排作为软约束。在线率、事故数等随机扰动指标只监控不优化。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两组核心矛盾决定帕累托前沿：装载率与响应时间此消彼长，空驶率与响应时间也是。C2 是 U2、U4 的合成裁决目标——只压空驶不考虑等待，C2 不一定下降。落地方式是标量化目标函数，权重扫描输出帕累托前沿，供决策者选择省成本、快时效还是满装载的经营倾向。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最后用指标总表收束：四个主目标、两个软约束、其余监控与待落地。核心结论是——不存在让所有指标同时最优的单解，C2 裁决加 U2、U4、T2 主目标加 F1、G2 软约束，通过权重标量化与帕累托前沿报告显式管理取舍。这套框架既尊重现有统计体系，又为算法演进保留了平移空间。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572500" y="-666750"/>
            <a:ext cx="4191000" cy="4191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239250" y="0"/>
            <a:ext cx="2857500" cy="2857500"/>
          </a:xfrm>
          <a:prstGeom prst="ellipse">
            <a:avLst/>
          </a:prstGeom>
          <a:noFill/>
          <a:ln w="28575">
            <a:solidFill>
              <a:schemeClr val="accent2">
                <a:alpha val="35000"/>
              </a:schemeClr>
            </a:solidFill>
          </a:ln>
        </p:spPr>
      </p:sp>
      <p:sp>
        <p:nvSpPr>
          <p:cNvPr id="4" name="Freeform 4"/>
          <p:cNvSpPr/>
          <p:nvPr/>
        </p:nvSpPr>
        <p:spPr>
          <a:xfrm>
            <a:off x="8572500" y="1428750"/>
            <a:ext cx="1714500" cy="1714500"/>
          </a:xfrm>
          <a:custGeom>
            <a:avLst/>
            <a:gdLst/>
            <a:ahLst/>
            <a:cxnLst/>
            <a:rect l="l" t="t" r="r" b="b"/>
            <a:pathLst>
              <a:path w="1714500" h="1714500">
                <a:moveTo>
                  <a:pt x="1714500" y="1714500"/>
                </a:moveTo>
                <a:cubicBezTo>
                  <a:pt x="836819" y="1565233"/>
                  <a:pt x="149267" y="877681"/>
                  <a:pt x="0" y="0"/>
                </a:cubicBezTo>
              </a:path>
            </a:pathLst>
          </a:custGeom>
          <a:noFill/>
          <a:ln w="57150" cap="rnd">
            <a:solidFill>
              <a:schemeClr val="accent1">
                <a:alpha val="18000"/>
              </a:schemeClr>
            </a:solidFill>
          </a:ln>
        </p:spPr>
      </p:sp>
      <p:sp>
        <p:nvSpPr>
          <p:cNvPr id="5" name="Rectangle 5"/>
          <p:cNvSpPr/>
          <p:nvPr/>
        </p:nvSpPr>
        <p:spPr>
          <a:xfrm>
            <a:off x="609600" y="1524000"/>
            <a:ext cx="95250" cy="14287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43356" y="948690"/>
            <a:ext cx="435376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spc="300" dirty="0">
                <a:solidFill>
                  <a:schemeClr val="dk2"/>
                </a:solidFill>
                <a:latin typeface="+mj-lt"/>
                <a:ea typeface="+mj-ea"/>
                <a:cs typeface="+mj-cs"/>
              </a:rPr>
              <a:t>TVSOS · 运输车辆仿真调度系统</a:t>
            </a:r>
            <a:endParaRPr lang="zh-CN" sz="1800" spc="300" dirty="0">
              <a:solidFill>
                <a:schemeClr val="dk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33450" y="1604010"/>
            <a:ext cx="6144463" cy="1390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统计指标体系</a:t>
            </a:r>
            <a:endParaRPr lang="zh-CN" sz="7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33450" y="2651760"/>
            <a:ext cx="9197645" cy="1390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与全局优化对象选型</a:t>
            </a:r>
            <a:endParaRPr lang="zh-CN" sz="7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40308" y="3931920"/>
            <a:ext cx="690615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指标设计科学性 · 多目标权衡 · 帕累托优化方向</a:t>
            </a:r>
            <a:endParaRPr lang="zh-CN" sz="24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952500" y="4762500"/>
            <a:ext cx="6953250" cy="919734"/>
            <a:chOff x="952500" y="4762500"/>
            <a:chExt cx="6953250" cy="919734"/>
          </a:xfrm>
        </p:grpSpPr>
        <p:sp>
          <p:nvSpPr>
            <p:cNvPr id="10" name="Rectangle 10"/>
            <p:cNvSpPr/>
            <p:nvPr/>
          </p:nvSpPr>
          <p:spPr>
            <a:xfrm>
              <a:off x="952500" y="4762500"/>
              <a:ext cx="2190750" cy="9144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05484" y="4899660"/>
              <a:ext cx="7334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8 维</a:t>
              </a:r>
              <a:endPara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10056" y="53301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统计指标维度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333750" y="4762500"/>
              <a:ext cx="2190750" cy="9144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586734" y="4899660"/>
              <a:ext cx="14967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 主目标</a:t>
              </a:r>
              <a:endPara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91306" y="53301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全局优化对象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0" y="4762500"/>
              <a:ext cx="2190750" cy="9144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67984" y="4899660"/>
              <a:ext cx="14967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 软约束</a:t>
              </a:r>
              <a:endPara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72556" y="5330190"/>
              <a:ext cx="12662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公平 · 绿色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0" name="Line 20"/>
          <p:cNvSpPr/>
          <p:nvPr/>
        </p:nvSpPr>
        <p:spPr>
          <a:xfrm>
            <a:off x="952500" y="61722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4880" y="6353175"/>
            <a:ext cx="216579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技术汇报 · 2026-09-07</a:t>
            </a:r>
            <a:endParaRPr lang="zh-CN" sz="15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980" y="295275"/>
            <a:ext cx="21488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225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PART 1 · 指标体系</a:t>
            </a:r>
            <a:endParaRPr lang="zh-CN" sz="1500" spc="225" dirty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898314" y="295275"/>
            <a:ext cx="6917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5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02 / 10</a:t>
            </a:r>
            <a:endParaRPr lang="en-US" sz="15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90550" y="689610"/>
            <a:ext cx="12505258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八维指标覆盖调度全链路，估算透明、口径统一</a:t>
            </a:r>
            <a:endParaRPr lang="zh-CN" sz="4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00456" y="1424940"/>
            <a:ext cx="1042576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后端统计覆盖 10 个子模块，映射为 8 类业务维度——每项均有明确口径、数据来源与前端实时展示</a:t>
            </a:r>
            <a:endParaRPr lang="zh-CN" sz="18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8" name="Group 38"/>
          <p:cNvGrpSpPr/>
          <p:nvPr/>
        </p:nvGrpSpPr>
        <p:grpSpPr>
          <a:xfrm>
            <a:off x="609600" y="2000250"/>
            <a:ext cx="11503762" cy="1809750"/>
            <a:chOff x="609600" y="2000250"/>
            <a:chExt cx="11503762" cy="1809750"/>
          </a:xfrm>
        </p:grpSpPr>
        <p:sp>
          <p:nvSpPr>
            <p:cNvPr id="6" name="Rectangle 6"/>
            <p:cNvSpPr/>
            <p:nvPr/>
          </p:nvSpPr>
          <p:spPr>
            <a:xfrm>
              <a:off x="609600" y="2000250"/>
              <a:ext cx="2590800" cy="1809750"/>
            </a:xfrm>
            <a:prstGeom prst="roundRect">
              <a:avLst>
                <a:gd name="adj" fmla="val 631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81062" y="2300288"/>
              <a:ext cx="257175" cy="200024"/>
              <a:chOff x="881062" y="2300288"/>
              <a:chExt cx="257175" cy="20002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09638" y="244316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52512" y="244316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81062" y="2300288"/>
                <a:ext cx="2571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71450">
                    <a:moveTo>
                      <a:pt x="28575" y="171450"/>
                    </a:moveTo>
                    <a:lnTo>
                      <a:pt x="0" y="171450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142875" y="0"/>
                    </a:lnTo>
                    <a:lnTo>
                      <a:pt x="142875" y="171450"/>
                    </a:lnTo>
                    <a:moveTo>
                      <a:pt x="85725" y="171450"/>
                    </a:moveTo>
                    <a:lnTo>
                      <a:pt x="171450" y="171450"/>
                    </a:lnTo>
                    <a:moveTo>
                      <a:pt x="228600" y="171450"/>
                    </a:moveTo>
                    <a:lnTo>
                      <a:pt x="257175" y="171450"/>
                    </a:lnTo>
                    <a:lnTo>
                      <a:pt x="257175" y="85725"/>
                    </a:lnTo>
                    <a:lnTo>
                      <a:pt x="142875" y="85725"/>
                    </a:lnTo>
                    <a:moveTo>
                      <a:pt x="142875" y="14288"/>
                    </a:moveTo>
                    <a:lnTo>
                      <a:pt x="214312" y="14288"/>
                    </a:lnTo>
                    <a:lnTo>
                      <a:pt x="257175" y="857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29056" y="2663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车辆概况</a:t>
              </a:r>
              <a:endParaRPr lang="zh-CN" sz="18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2104" y="33566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运力池画像，指标分母基础</a:t>
              </a:r>
              <a:endParaRPr lang="zh-CN" sz="12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29000" y="2000250"/>
              <a:ext cx="2590800" cy="1809750"/>
            </a:xfrm>
            <a:prstGeom prst="roundRect">
              <a:avLst>
                <a:gd name="adj" fmla="val 631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3700462" y="2271712"/>
              <a:ext cx="257175" cy="257175"/>
              <a:chOff x="3700462" y="2271712"/>
              <a:chExt cx="257175" cy="25717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700462" y="22717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814762" y="23860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849195" y="2343150"/>
                <a:ext cx="37005" cy="37005"/>
              </a:xfrm>
              <a:custGeom>
                <a:avLst/>
                <a:gdLst/>
                <a:ahLst/>
                <a:cxnLst/>
                <a:rect l="l" t="t" r="r" b="b"/>
                <a:pathLst>
                  <a:path w="37005" h="37005">
                    <a:moveTo>
                      <a:pt x="0" y="37005"/>
                    </a:moveTo>
                    <a:lnTo>
                      <a:pt x="3700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757612" y="232886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71438"/>
                    </a:moveTo>
                    <a:cubicBezTo>
                      <a:pt x="0" y="31984"/>
                      <a:pt x="31984" y="0"/>
                      <a:pt x="71438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3648456" y="2663190"/>
              <a:ext cx="10532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利用率 U</a:t>
              </a:r>
              <a:endParaRPr lang="zh-CN" sz="18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51504" y="3013710"/>
              <a:ext cx="2657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U2 装载率 · U3 在线率 · U4 空驶率</a:t>
              </a:r>
              <a:endPara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51504" y="33566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维修中车辆剔除，口径不失真</a:t>
              </a:r>
              <a:endParaRPr lang="zh-CN" sz="12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248400" y="2000250"/>
              <a:ext cx="2590800" cy="1809750"/>
            </a:xfrm>
            <a:prstGeom prst="roundRect">
              <a:avLst>
                <a:gd name="adj" fmla="val 631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519862" y="2271712"/>
              <a:ext cx="257175" cy="257175"/>
              <a:chOff x="6519862" y="2271712"/>
              <a:chExt cx="257175" cy="25717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519862" y="22717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648450" y="2328862"/>
                <a:ext cx="4286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114300">
                    <a:moveTo>
                      <a:pt x="0" y="0"/>
                    </a:moveTo>
                    <a:lnTo>
                      <a:pt x="0" y="71438"/>
                    </a:lnTo>
                    <a:lnTo>
                      <a:pt x="42862" y="1143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467856" y="2663190"/>
              <a:ext cx="15909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时间与响应 T</a:t>
              </a:r>
              <a:endParaRPr lang="zh-CN" sz="18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0904" y="3013710"/>
              <a:ext cx="2990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车辆/货物等待 · T2 响应 P50/P95/P99</a:t>
              </a:r>
              <a:endPara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70904" y="33566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分位数暴露尾部劣化</a:t>
              </a:r>
              <a:endParaRPr lang="zh-CN" sz="12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067800" y="2000250"/>
              <a:ext cx="2590800" cy="1809750"/>
            </a:xfrm>
            <a:prstGeom prst="roundRect">
              <a:avLst>
                <a:gd name="adj" fmla="val 631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9339262" y="2271712"/>
              <a:ext cx="257176" cy="257176"/>
              <a:chOff x="9339262" y="2271712"/>
              <a:chExt cx="257176" cy="25717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339262" y="2471738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539288" y="227171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28575" y="57150"/>
                    </a:move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  <a:cubicBezTo>
                      <a:pt x="0" y="44357"/>
                      <a:pt x="12793" y="57150"/>
                      <a:pt x="28575" y="571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367838" y="2300288"/>
                <a:ext cx="214312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00025">
                    <a:moveTo>
                      <a:pt x="85725" y="200025"/>
                    </a:moveTo>
                    <a:lnTo>
                      <a:pt x="164306" y="200025"/>
                    </a:lnTo>
                    <a:cubicBezTo>
                      <a:pt x="191924" y="200025"/>
                      <a:pt x="214312" y="177636"/>
                      <a:pt x="214312" y="150019"/>
                    </a:cubicBezTo>
                    <a:cubicBezTo>
                      <a:pt x="214312" y="122401"/>
                      <a:pt x="191924" y="100012"/>
                      <a:pt x="164306" y="100012"/>
                    </a:cubicBezTo>
                    <a:lnTo>
                      <a:pt x="50006" y="100012"/>
                    </a:lnTo>
                    <a:cubicBezTo>
                      <a:pt x="22389" y="100012"/>
                      <a:pt x="0" y="77624"/>
                      <a:pt x="0" y="50006"/>
                    </a:cubicBezTo>
                    <a:cubicBezTo>
                      <a:pt x="0" y="22389"/>
                      <a:pt x="22389" y="0"/>
                      <a:pt x="50006" y="0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9287256" y="2663190"/>
              <a:ext cx="13221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距离里程 D</a:t>
              </a:r>
              <a:endParaRPr lang="zh-CN" sz="18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90304" y="3013710"/>
              <a:ext cx="28230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空驶/载重/总里程 · 空满比 · 空驶分布</a:t>
              </a:r>
              <a:endPara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90304" y="33566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阶段切分口径，估算透明</a:t>
              </a:r>
              <a:endParaRPr lang="zh-CN" sz="12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850" y="2955925"/>
              <a:ext cx="2412365" cy="2927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车型分布 · 运能分布 · </a:t>
              </a:r>
              <a:endPara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货舱载货 · 位置聚散</a:t>
              </a:r>
              <a:endPara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09600" y="4000500"/>
            <a:ext cx="11049000" cy="1809750"/>
            <a:chOff x="609600" y="4000500"/>
            <a:chExt cx="11049000" cy="1809750"/>
          </a:xfrm>
        </p:grpSpPr>
        <p:sp>
          <p:nvSpPr>
            <p:cNvPr id="39" name="Rectangle 39"/>
            <p:cNvSpPr/>
            <p:nvPr/>
          </p:nvSpPr>
          <p:spPr>
            <a:xfrm>
              <a:off x="609600" y="4000500"/>
              <a:ext cx="2590800" cy="1809750"/>
            </a:xfrm>
            <a:prstGeom prst="roundRect">
              <a:avLst>
                <a:gd name="adj" fmla="val 631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895350" y="4271962"/>
              <a:ext cx="228600" cy="257176"/>
              <a:chOff x="895350" y="4271962"/>
              <a:chExt cx="228600" cy="25717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95350" y="4271962"/>
                <a:ext cx="22860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57175">
                    <a:moveTo>
                      <a:pt x="114300" y="0"/>
                    </a:moveTo>
                    <a:lnTo>
                      <a:pt x="228600" y="64294"/>
                    </a:lnTo>
                    <a:lnTo>
                      <a:pt x="228600" y="192881"/>
                    </a:lnTo>
                    <a:lnTo>
                      <a:pt x="114300" y="257175"/>
                    </a:lnTo>
                    <a:lnTo>
                      <a:pt x="0" y="192881"/>
                    </a:lnTo>
                    <a:lnTo>
                      <a:pt x="0" y="64294"/>
                    </a:ln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009650" y="4336256"/>
                <a:ext cx="114300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4294">
                    <a:moveTo>
                      <a:pt x="0" y="64294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009650" y="4400550"/>
                <a:ext cx="952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8588">
                    <a:moveTo>
                      <a:pt x="0" y="0"/>
                    </a:moveTo>
                    <a:lnTo>
                      <a:pt x="0" y="128588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95350" y="4336256"/>
                <a:ext cx="114300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4294">
                    <a:moveTo>
                      <a:pt x="114300" y="64294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52500" y="4304109"/>
                <a:ext cx="114300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4294">
                    <a:moveTo>
                      <a:pt x="114300" y="0"/>
                    </a:moveTo>
                    <a:lnTo>
                      <a:pt x="0" y="64294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829056" y="46634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货物与吞吐</a:t>
              </a:r>
              <a:endParaRPr lang="zh-CN" sz="18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2104" y="5013960"/>
              <a:ext cx="28230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总/在途/完成吨 · 吨公里 · 待处理损耗</a:t>
              </a:r>
              <a:endPara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2104" y="53568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吨公里为核心归一化基准</a:t>
              </a:r>
              <a:endParaRPr lang="zh-CN" sz="12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429000" y="4000500"/>
              <a:ext cx="2590800" cy="1809750"/>
            </a:xfrm>
            <a:prstGeom prst="roundRect">
              <a:avLst>
                <a:gd name="adj" fmla="val 631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3700462" y="4270048"/>
              <a:ext cx="257176" cy="259089"/>
              <a:chOff x="3700462" y="4270048"/>
              <a:chExt cx="257176" cy="259089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3786188" y="4386262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42862"/>
                    </a:moveTo>
                    <a:cubicBezTo>
                      <a:pt x="0" y="66537"/>
                      <a:pt x="38376" y="85725"/>
                      <a:pt x="85725" y="85725"/>
                    </a:cubicBezTo>
                    <a:cubicBezTo>
                      <a:pt x="133074" y="85725"/>
                      <a:pt x="171450" y="66537"/>
                      <a:pt x="171450" y="42862"/>
                    </a:cubicBezTo>
                    <a:cubicBezTo>
                      <a:pt x="171450" y="19188"/>
                      <a:pt x="133074" y="0"/>
                      <a:pt x="85725" y="0"/>
                    </a:cubicBezTo>
                    <a:cubicBezTo>
                      <a:pt x="38376" y="0"/>
                      <a:pt x="0" y="19188"/>
                      <a:pt x="0" y="42862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3786188" y="4429125"/>
                <a:ext cx="1714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00012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80810"/>
                      <a:pt x="38376" y="100012"/>
                      <a:pt x="85725" y="100012"/>
                    </a:cubicBezTo>
                    <a:cubicBezTo>
                      <a:pt x="133074" y="100012"/>
                      <a:pt x="171450" y="80810"/>
                      <a:pt x="171450" y="57150"/>
                    </a:cubicBez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3700462" y="4270048"/>
                <a:ext cx="171450" cy="89554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9554">
                    <a:moveTo>
                      <a:pt x="0" y="44777"/>
                    </a:moveTo>
                    <a:cubicBezTo>
                      <a:pt x="0" y="60093"/>
                      <a:pt x="16345" y="74238"/>
                      <a:pt x="42862" y="81896"/>
                    </a:cubicBezTo>
                    <a:cubicBezTo>
                      <a:pt x="69380" y="89554"/>
                      <a:pt x="102070" y="89554"/>
                      <a:pt x="128588" y="81896"/>
                    </a:cubicBezTo>
                    <a:cubicBezTo>
                      <a:pt x="155105" y="74238"/>
                      <a:pt x="171450" y="60093"/>
                      <a:pt x="171450" y="44777"/>
                    </a:cubicBezTo>
                    <a:cubicBezTo>
                      <a:pt x="171450" y="29461"/>
                      <a:pt x="155105" y="15316"/>
                      <a:pt x="128588" y="7658"/>
                    </a:cubicBezTo>
                    <a:cubicBezTo>
                      <a:pt x="102070" y="0"/>
                      <a:pt x="69380" y="0"/>
                      <a:pt x="42862" y="7658"/>
                    </a:cubicBezTo>
                    <a:cubicBezTo>
                      <a:pt x="16345" y="15316"/>
                      <a:pt x="0" y="29461"/>
                      <a:pt x="0" y="44777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3700462" y="4314825"/>
                <a:ext cx="285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71450">
                    <a:moveTo>
                      <a:pt x="0" y="0"/>
                    </a:moveTo>
                    <a:lnTo>
                      <a:pt x="0" y="142875"/>
                    </a:lnTo>
                    <a:cubicBezTo>
                      <a:pt x="0" y="155562"/>
                      <a:pt x="11030" y="163592"/>
                      <a:pt x="28575" y="1714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3700462" y="438626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0"/>
                    </a:moveTo>
                    <a:cubicBezTo>
                      <a:pt x="0" y="12687"/>
                      <a:pt x="11030" y="20717"/>
                      <a:pt x="28575" y="2857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3648456" y="4663440"/>
              <a:ext cx="7844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成本 C</a:t>
              </a:r>
              <a:endParaRPr lang="zh-CN" sz="18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651504" y="5013960"/>
              <a:ext cx="21801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Cost A–F 闭环 · C2 单位成本</a:t>
              </a:r>
              <a:endPara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651504" y="5356860"/>
              <a:ext cx="2094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 直接驱动 SA/NF 调度打分</a:t>
              </a:r>
              <a:endParaRPr lang="zh-CN" sz="12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4000500"/>
              <a:ext cx="2590800" cy="1809750"/>
            </a:xfrm>
            <a:prstGeom prst="roundRect">
              <a:avLst>
                <a:gd name="adj" fmla="val 631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533950" y="4286250"/>
              <a:ext cx="228800" cy="242887"/>
              <a:chOff x="6533950" y="4286250"/>
              <a:chExt cx="228800" cy="242887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548438" y="4386262"/>
                <a:ext cx="1000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42875">
                    <a:moveTo>
                      <a:pt x="0" y="142875"/>
                    </a:moveTo>
                    <a:cubicBezTo>
                      <a:pt x="7144" y="78581"/>
                      <a:pt x="35719" y="28575"/>
                      <a:pt x="100012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533950" y="4286250"/>
                <a:ext cx="22880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28800" h="200025">
                    <a:moveTo>
                      <a:pt x="71638" y="200025"/>
                    </a:moveTo>
                    <a:cubicBezTo>
                      <a:pt x="160477" y="200025"/>
                      <a:pt x="221656" y="153048"/>
                      <a:pt x="228800" y="28575"/>
                    </a:cubicBezTo>
                    <a:lnTo>
                      <a:pt x="228800" y="0"/>
                    </a:lnTo>
                    <a:lnTo>
                      <a:pt x="171450" y="0"/>
                    </a:lnTo>
                    <a:cubicBezTo>
                      <a:pt x="42862" y="0"/>
                      <a:pt x="200" y="57150"/>
                      <a:pt x="0" y="128588"/>
                    </a:cubicBezTo>
                    <a:cubicBezTo>
                      <a:pt x="0" y="142875"/>
                      <a:pt x="0" y="171450"/>
                      <a:pt x="28575" y="200025"/>
                    </a:cubicBezTo>
                    <a:lnTo>
                      <a:pt x="71438" y="200025"/>
                    </a:lnTo>
                    <a:lnTo>
                      <a:pt x="71638" y="2000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467856" y="4663440"/>
              <a:ext cx="7844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绿色 G</a:t>
              </a:r>
              <a:endParaRPr lang="zh-CN" sz="18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70904" y="5013960"/>
              <a:ext cx="2563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G1 总碳排放 · G2 单位吨公里碳排</a:t>
              </a:r>
              <a:endPara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70904" y="53568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排放因子配置化，可替换估算</a:t>
              </a:r>
              <a:endParaRPr lang="zh-CN" sz="12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067800" y="4000500"/>
              <a:ext cx="2590800" cy="1809750"/>
            </a:xfrm>
            <a:prstGeom prst="roundRect">
              <a:avLst>
                <a:gd name="adj" fmla="val 631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9339262" y="4271962"/>
              <a:ext cx="257175" cy="252413"/>
              <a:chOff x="9339262" y="4271962"/>
              <a:chExt cx="257175" cy="25241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9396412" y="451485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9382125" y="4300538"/>
                <a:ext cx="171450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4288">
                    <a:moveTo>
                      <a:pt x="0" y="14288"/>
                    </a:moveTo>
                    <a:lnTo>
                      <a:pt x="85725" y="0"/>
                    </a:lnTo>
                    <a:lnTo>
                      <a:pt x="171450" y="14288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467850" y="4271962"/>
                <a:ext cx="9525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2888">
                    <a:moveTo>
                      <a:pt x="0" y="0"/>
                    </a:moveTo>
                    <a:lnTo>
                      <a:pt x="0" y="242888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9339262" y="4314825"/>
                <a:ext cx="8572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28588">
                    <a:moveTo>
                      <a:pt x="85725" y="85725"/>
                    </a:moveTo>
                    <a:lnTo>
                      <a:pt x="42862" y="0"/>
                    </a:lnTo>
                    <a:lnTo>
                      <a:pt x="0" y="85725"/>
                    </a:lnTo>
                    <a:cubicBezTo>
                      <a:pt x="0" y="109397"/>
                      <a:pt x="19190" y="128588"/>
                      <a:pt x="42862" y="128588"/>
                    </a:cubicBezTo>
                    <a:cubicBezTo>
                      <a:pt x="66535" y="128588"/>
                      <a:pt x="85725" y="109397"/>
                      <a:pt x="85725" y="8572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9510712" y="4314825"/>
                <a:ext cx="8572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28588">
                    <a:moveTo>
                      <a:pt x="85725" y="85725"/>
                    </a:moveTo>
                    <a:lnTo>
                      <a:pt x="42862" y="0"/>
                    </a:lnTo>
                    <a:lnTo>
                      <a:pt x="0" y="85725"/>
                    </a:lnTo>
                    <a:cubicBezTo>
                      <a:pt x="0" y="109397"/>
                      <a:pt x="19190" y="128588"/>
                      <a:pt x="42862" y="128588"/>
                    </a:cubicBezTo>
                    <a:cubicBezTo>
                      <a:pt x="66535" y="128588"/>
                      <a:pt x="85725" y="109397"/>
                      <a:pt x="85725" y="8572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9287256" y="4663440"/>
              <a:ext cx="18597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公平 F · 可靠 R</a:t>
              </a:r>
              <a:endParaRPr lang="zh-CN" sz="18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290304" y="5013960"/>
              <a:ext cx="1863725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F1 基尼 · F2 拒单 · R4 事故</a:t>
              </a:r>
              <a:endPara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 · R5/R6 维修休息</a:t>
              </a:r>
              <a:endPara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290304" y="53568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随机事件引擎纳入统计</a:t>
              </a:r>
              <a:endParaRPr lang="zh-CN" sz="12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77" name="Line 77"/>
          <p:cNvSpPr/>
          <p:nvPr/>
        </p:nvSpPr>
        <p:spPr>
          <a:xfrm>
            <a:off x="609600" y="63627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78" name="TextBox 78"/>
          <p:cNvSpPr txBox="1"/>
          <p:nvPr/>
        </p:nvSpPr>
        <p:spPr>
          <a:xfrm>
            <a:off x="603504" y="6461760"/>
            <a:ext cx="57612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Source: internal/task/stats.go · realtime_stats.go · random_event.go</a:t>
            </a:r>
            <a:endParaRPr lang="en-US" sz="12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980" y="295275"/>
            <a:ext cx="21488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225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PART 1 · 指标体系</a:t>
            </a:r>
            <a:endParaRPr lang="zh-CN" sz="1500" spc="225" dirty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898314" y="295275"/>
            <a:ext cx="6917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5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03 / 10</a:t>
            </a:r>
            <a:endParaRPr lang="en-US" sz="15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90550" y="689610"/>
            <a:ext cx="8438590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指标体系设计的 6 条科学性原则</a:t>
            </a:r>
            <a:endParaRPr lang="zh-CN" sz="4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00456" y="1443990"/>
            <a:ext cx="682736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从模块化到算法解耦——统计不是摆设，而是调度决策的量化地基</a:t>
            </a:r>
            <a:endParaRPr lang="zh-CN" sz="18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609600" y="2000250"/>
            <a:ext cx="11153699" cy="4019550"/>
            <a:chOff x="609600" y="2000250"/>
            <a:chExt cx="11153699" cy="4019550"/>
          </a:xfrm>
        </p:grpSpPr>
        <p:sp>
          <p:nvSpPr>
            <p:cNvPr id="6" name="Rectangle 6"/>
            <p:cNvSpPr/>
            <p:nvPr/>
          </p:nvSpPr>
          <p:spPr>
            <a:xfrm>
              <a:off x="609600" y="2000250"/>
              <a:ext cx="5143500" cy="1238250"/>
            </a:xfrm>
            <a:prstGeom prst="roundRect">
              <a:avLst>
                <a:gd name="adj" fmla="val 9231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62000" y="22288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7523" y="23050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  <a:endParaRPr lang="en-US" sz="150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48156" y="21678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模块化分层</a:t>
              </a:r>
              <a:endParaRPr lang="zh-CN" sz="18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50442" y="2540318"/>
              <a:ext cx="2543175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10 个子模块互不干扰，前端按 </a:t>
              </a:r>
              <a:endPara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M/U/T/A/S/C/R/F/G 九章对应展示</a:t>
              </a:r>
              <a:endPara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50442" y="295560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易扩展 · 可评审</a:t>
              </a:r>
              <a:endPara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981700" y="2000250"/>
              <a:ext cx="5143500" cy="1238250"/>
            </a:xfrm>
            <a:prstGeom prst="roundRect">
              <a:avLst>
                <a:gd name="adj" fmla="val 9231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6134100" y="22288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39623" y="23050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  <a:endParaRPr lang="en-US" sz="150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20256" y="21678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口径统一</a:t>
              </a:r>
              <a:endParaRPr lang="zh-CN" sz="18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22542" y="2540318"/>
              <a:ext cx="48388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成本用吨·公里归一，等待用秒，效率用百分比，跨指标可比</a:t>
              </a:r>
              <a:endPara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22542" y="28451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同一物理量被一致引用</a:t>
              </a:r>
              <a:endPara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3390900"/>
              <a:ext cx="5143500" cy="1238250"/>
            </a:xfrm>
            <a:prstGeom prst="roundRect">
              <a:avLst>
                <a:gd name="adj" fmla="val 9231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762000" y="36195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7523" y="36957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</a:t>
              </a:r>
              <a:endParaRPr lang="en-US" sz="150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48156" y="35585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分布优于均值</a:t>
              </a:r>
              <a:endParaRPr lang="zh-CN" sz="18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50442" y="3930968"/>
              <a:ext cx="5812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时间/数值统计内置 P50/P95/P99 分位，暴露尾部风险而非只看均值</a:t>
              </a:r>
              <a:endPara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50442" y="423576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单票滞留 / 单台空驶无处藏身</a:t>
              </a:r>
              <a:endPara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981700" y="3390900"/>
              <a:ext cx="5143500" cy="1238250"/>
            </a:xfrm>
            <a:prstGeom prst="roundRect">
              <a:avLst>
                <a:gd name="adj" fmla="val 9231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134100" y="36195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39623" y="36957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4</a:t>
              </a:r>
              <a:endParaRPr lang="en-US" sz="150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20256" y="35585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估算透明</a:t>
              </a:r>
              <a:endParaRPr lang="zh-CN" sz="18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22542" y="3930968"/>
              <a:ext cx="48388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装卸/里程估算显式标记，排放因子与装卸系数配置化可替换</a:t>
              </a:r>
              <a:endPara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22542" y="42357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估算与精确口径可平滑迁移</a:t>
              </a:r>
              <a:endPara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9600" y="4781550"/>
              <a:ext cx="5143500" cy="1238250"/>
            </a:xfrm>
            <a:prstGeom prst="roundRect">
              <a:avLst>
                <a:gd name="adj" fmla="val 9231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762000" y="50101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7523" y="50863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5</a:t>
              </a:r>
              <a:endParaRPr lang="en-US" sz="150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48156" y="49491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指标驱动决策闭环</a:t>
              </a:r>
              <a:endParaRPr lang="zh-CN" sz="18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50442" y="5321618"/>
              <a:ext cx="3038475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Cost F 直接作为 SA/NF 分配打分目标，</a:t>
              </a:r>
              <a:endPara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A3 Gap 量化与最优解距离</a:t>
              </a:r>
              <a:endPara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48537" y="573690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统计即调度器的评分器</a:t>
              </a:r>
              <a:endPara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981700" y="4781550"/>
              <a:ext cx="5143500" cy="1238250"/>
            </a:xfrm>
            <a:prstGeom prst="roundRect">
              <a:avLst>
                <a:gd name="adj" fmla="val 9231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6134100" y="50101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39623" y="50863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6</a:t>
              </a:r>
              <a:endParaRPr lang="en-US" sz="150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20256" y="49491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与算法实现解耦</a:t>
              </a:r>
              <a:endParaRPr lang="zh-CN" sz="18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22542" y="5321618"/>
              <a:ext cx="51407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指标度量调度结果在车队上的痕迹，与 SA 或精确求解器无关</a:t>
              </a:r>
              <a:endPara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22542" y="56264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算法演进时指标体系整体平移</a:t>
              </a:r>
              <a:endPara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3" name="Line 43"/>
          <p:cNvSpPr/>
          <p:nvPr/>
        </p:nvSpPr>
        <p:spPr>
          <a:xfrm>
            <a:off x="609600" y="63627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603504" y="6461760"/>
            <a:ext cx="34692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Source: 统计指标总结与全局优化对象.md · §3</a:t>
            </a:r>
            <a:endParaRPr lang="zh-CN" sz="12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980" y="295275"/>
            <a:ext cx="21488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225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PART 1 · 指标体系</a:t>
            </a:r>
            <a:endParaRPr lang="zh-CN" sz="1500" spc="225" dirty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898314" y="295275"/>
            <a:ext cx="6917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5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04 / 10</a:t>
            </a:r>
            <a:endParaRPr lang="en-US" sz="15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90550" y="689610"/>
            <a:ext cx="11911584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效率维度：装载率、空驶率与响应时间是核心</a:t>
            </a:r>
            <a:endParaRPr lang="zh-CN" sz="4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00456" y="1443990"/>
            <a:ext cx="664951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U2 / U4 / T2 构成效率三支柱，时间与距离明细指标为支撑</a:t>
            </a:r>
            <a:endParaRPr lang="zh-CN" sz="18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609600" y="2000250"/>
            <a:ext cx="3581604" cy="4000500"/>
            <a:chOff x="609600" y="2000250"/>
            <a:chExt cx="3581604" cy="4000500"/>
          </a:xfrm>
        </p:grpSpPr>
        <p:sp>
          <p:nvSpPr>
            <p:cNvPr id="6" name="Rectangle 6"/>
            <p:cNvSpPr/>
            <p:nvPr/>
          </p:nvSpPr>
          <p:spPr>
            <a:xfrm>
              <a:off x="609600" y="200025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62025" y="2333625"/>
              <a:ext cx="285751" cy="285751"/>
              <a:chOff x="962025" y="2333625"/>
              <a:chExt cx="285751" cy="285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62025" y="23336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89025" y="24606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27284" y="2413000"/>
                <a:ext cx="41116" cy="41116"/>
              </a:xfrm>
              <a:custGeom>
                <a:avLst/>
                <a:gdLst/>
                <a:ahLst/>
                <a:cxnLst/>
                <a:rect l="l" t="t" r="r" b="b"/>
                <a:pathLst>
                  <a:path w="41116" h="41116">
                    <a:moveTo>
                      <a:pt x="0" y="41116"/>
                    </a:moveTo>
                    <a:lnTo>
                      <a:pt x="41116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25525" y="2397125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79375"/>
                    </a:moveTo>
                    <a:cubicBezTo>
                      <a:pt x="0" y="35537"/>
                      <a:pt x="35537" y="0"/>
                      <a:pt x="79375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05256" y="283464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U2</a:t>
              </a:r>
              <a:endParaRPr lang="en-US" sz="180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0684" y="3137535"/>
              <a:ext cx="32905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装载率均值±标准差</a:t>
              </a:r>
              <a:endPara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914400" y="365760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3838575"/>
              <a:ext cx="2085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口径：size / capacity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6780" y="41814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均值看装载深度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6780" y="44862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标准差看负载均衡度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6780" y="51720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避免少数车满载、多数车空跑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5256" y="5482590"/>
              <a:ext cx="22318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→ 全局优化主目标 ↑</a:t>
              </a:r>
              <a:endParaRPr lang="zh-CN" sz="1800" b="1" dirty="0">
                <a:solidFill>
                  <a:schemeClr val="accent5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381500" y="2000250"/>
            <a:ext cx="3429000" cy="4000500"/>
            <a:chOff x="4381500" y="2000250"/>
            <a:chExt cx="3429000" cy="4000500"/>
          </a:xfrm>
        </p:grpSpPr>
        <p:sp>
          <p:nvSpPr>
            <p:cNvPr id="21" name="Rectangle 21"/>
            <p:cNvSpPr/>
            <p:nvPr/>
          </p:nvSpPr>
          <p:spPr>
            <a:xfrm>
              <a:off x="4381500" y="200025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4733925" y="2333625"/>
              <a:ext cx="285751" cy="285751"/>
              <a:chOff x="4733925" y="2333625"/>
              <a:chExt cx="285751" cy="28575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733925" y="25558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956176" y="23336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765675" y="2365375"/>
                <a:ext cx="23812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222250">
                    <a:moveTo>
                      <a:pt x="95250" y="222250"/>
                    </a:moveTo>
                    <a:lnTo>
                      <a:pt x="182563" y="222250"/>
                    </a:lnTo>
                    <a:cubicBezTo>
                      <a:pt x="213249" y="222250"/>
                      <a:pt x="238125" y="197374"/>
                      <a:pt x="238125" y="166688"/>
                    </a:cubicBezTo>
                    <a:cubicBezTo>
                      <a:pt x="238125" y="136001"/>
                      <a:pt x="213249" y="111125"/>
                      <a:pt x="182563" y="111125"/>
                    </a:cubicBezTo>
                    <a:lnTo>
                      <a:pt x="55563" y="111125"/>
                    </a:lnTo>
                    <a:cubicBezTo>
                      <a:pt x="24876" y="111125"/>
                      <a:pt x="0" y="86249"/>
                      <a:pt x="0" y="55563"/>
                    </a:cubicBezTo>
                    <a:cubicBezTo>
                      <a:pt x="0" y="24876"/>
                      <a:pt x="24876" y="0"/>
                      <a:pt x="55563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4677156" y="283464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U4</a:t>
              </a:r>
              <a:endParaRPr lang="en-US" sz="180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72584" y="3137535"/>
              <a:ext cx="1172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空驶率</a:t>
              </a:r>
              <a:endPara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8" name="Line 28"/>
            <p:cNvSpPr/>
            <p:nvPr/>
          </p:nvSpPr>
          <p:spPr>
            <a:xfrm>
              <a:off x="4686300" y="365760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78680" y="38385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口径：空驶里程 / 总里程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78680" y="41814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直接度量运力浪费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78680" y="4486275"/>
              <a:ext cx="26210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空满比 EmptyFullRatio 互补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78680" y="51720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成本与碳排放的共同驱动因子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77156" y="5482590"/>
              <a:ext cx="22318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→ 全局优化主目标 ↓</a:t>
              </a:r>
              <a:endParaRPr lang="zh-CN" sz="1800" b="1" dirty="0">
                <a:solidFill>
                  <a:schemeClr val="accent5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53400" y="2000250"/>
            <a:ext cx="4492158" cy="4000500"/>
            <a:chOff x="8153400" y="2000250"/>
            <a:chExt cx="4492158" cy="4000500"/>
          </a:xfrm>
        </p:grpSpPr>
        <p:sp>
          <p:nvSpPr>
            <p:cNvPr id="35" name="Rectangle 35"/>
            <p:cNvSpPr/>
            <p:nvPr/>
          </p:nvSpPr>
          <p:spPr>
            <a:xfrm>
              <a:off x="8153400" y="200025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8505825" y="2333625"/>
              <a:ext cx="285751" cy="285751"/>
              <a:chOff x="8505825" y="2333625"/>
              <a:chExt cx="285751" cy="285751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505825" y="23336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648700" y="2397125"/>
                <a:ext cx="476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27000">
                    <a:moveTo>
                      <a:pt x="0" y="0"/>
                    </a:moveTo>
                    <a:lnTo>
                      <a:pt x="0" y="79375"/>
                    </a:lnTo>
                    <a:lnTo>
                      <a:pt x="47625" y="1270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8449056" y="283464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T2</a:t>
              </a:r>
              <a:endParaRPr lang="en-US" sz="180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44484" y="3137535"/>
              <a:ext cx="420107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匹配响应 P50/P95/P99</a:t>
              </a:r>
              <a:endPara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1" name="Line 41"/>
            <p:cNvSpPr/>
            <p:nvPr/>
          </p:nvSpPr>
          <p:spPr>
            <a:xfrm>
              <a:off x="8458200" y="365760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50580" y="3838575"/>
              <a:ext cx="246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口径：分配时刻 − 创建时刻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50580" y="41814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仅统计已进入派单流程运单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50580" y="44862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P95 暴露尾部劣化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50580" y="51720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时效是与效率兼得最难的目标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49056" y="5482590"/>
              <a:ext cx="22318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→ 全局优化主目标 ↓</a:t>
              </a:r>
              <a:endParaRPr lang="zh-CN" sz="1800" b="1" dirty="0">
                <a:solidFill>
                  <a:schemeClr val="accent5"/>
                </a:solidFill>
                <a:latin typeface="+mj-lt"/>
                <a:ea typeface="+mj-ea"/>
                <a:cs typeface="+mj-cs"/>
              </a:endParaRPr>
            </a:p>
          </p:txBody>
        </p:sp>
      </p:grpSp>
      <p:sp>
        <p:nvSpPr>
          <p:cNvPr id="48" name="Rectangle 48"/>
          <p:cNvSpPr/>
          <p:nvPr/>
        </p:nvSpPr>
        <p:spPr>
          <a:xfrm>
            <a:off x="609600" y="6191250"/>
            <a:ext cx="10972800" cy="495300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06780" y="6334125"/>
            <a:ext cx="72544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支撑指标：车辆等待 · 货物等待（吨×秒加权）· 运输时间 · 空驶分布 · 等运占比</a:t>
            </a:r>
            <a:endParaRPr lang="zh-CN" sz="15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0" name="Line 50"/>
          <p:cNvSpPr/>
          <p:nvPr/>
        </p:nvSpPr>
        <p:spPr>
          <a:xfrm>
            <a:off x="609600" y="6819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980" y="295275"/>
            <a:ext cx="21488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225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PART 1 · 指标体系</a:t>
            </a:r>
            <a:endParaRPr lang="zh-CN" sz="1500" spc="225" dirty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898314" y="295275"/>
            <a:ext cx="6917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5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05 / 10</a:t>
            </a:r>
            <a:endParaRPr lang="en-US" sz="15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90550" y="689610"/>
            <a:ext cx="10724236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单位成本与单位碳排归一化，跨场景可比</a:t>
            </a:r>
            <a:endParaRPr lang="zh-CN" sz="4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00456" y="1443990"/>
            <a:ext cx="75700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Cost A–F 闭环驱动调度；C2 / G2 以吨公里归一，是经营与绿色核心</a:t>
            </a:r>
            <a:endParaRPr lang="zh-CN" sz="18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609600" y="2000250"/>
            <a:ext cx="5497068" cy="4000500"/>
            <a:chOff x="609600" y="2000250"/>
            <a:chExt cx="5497068" cy="4000500"/>
          </a:xfrm>
        </p:grpSpPr>
        <p:sp>
          <p:nvSpPr>
            <p:cNvPr id="6" name="Rectangle 6"/>
            <p:cNvSpPr/>
            <p:nvPr/>
          </p:nvSpPr>
          <p:spPr>
            <a:xfrm>
              <a:off x="609600" y="2000250"/>
              <a:ext cx="5334000" cy="40005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62025" y="2331498"/>
              <a:ext cx="285750" cy="287877"/>
              <a:chOff x="962025" y="2331498"/>
              <a:chExt cx="285750" cy="28787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57275" y="246062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47625"/>
                    </a:moveTo>
                    <a:cubicBezTo>
                      <a:pt x="0" y="73930"/>
                      <a:pt x="42640" y="95250"/>
                      <a:pt x="95250" y="95250"/>
                    </a:cubicBezTo>
                    <a:cubicBezTo>
                      <a:pt x="147860" y="95250"/>
                      <a:pt x="190500" y="73930"/>
                      <a:pt x="190500" y="47625"/>
                    </a:cubicBezTo>
                    <a:cubicBezTo>
                      <a:pt x="190500" y="21320"/>
                      <a:pt x="147860" y="0"/>
                      <a:pt x="95250" y="0"/>
                    </a:cubicBezTo>
                    <a:cubicBezTo>
                      <a:pt x="42640" y="0"/>
                      <a:pt x="0" y="21320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57275" y="2508250"/>
                <a:ext cx="19050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11125">
                    <a:moveTo>
                      <a:pt x="0" y="0"/>
                    </a:moveTo>
                    <a:lnTo>
                      <a:pt x="0" y="63500"/>
                    </a:lnTo>
                    <a:cubicBezTo>
                      <a:pt x="0" y="89789"/>
                      <a:pt x="42640" y="111125"/>
                      <a:pt x="95250" y="111125"/>
                    </a:cubicBezTo>
                    <a:cubicBezTo>
                      <a:pt x="147860" y="111125"/>
                      <a:pt x="190500" y="89789"/>
                      <a:pt x="190500" y="63500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62025" y="2331498"/>
                <a:ext cx="190500" cy="9950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9505">
                    <a:moveTo>
                      <a:pt x="0" y="49752"/>
                    </a:moveTo>
                    <a:cubicBezTo>
                      <a:pt x="0" y="66770"/>
                      <a:pt x="18161" y="82487"/>
                      <a:pt x="47625" y="90996"/>
                    </a:cubicBezTo>
                    <a:cubicBezTo>
                      <a:pt x="77089" y="99505"/>
                      <a:pt x="113411" y="99505"/>
                      <a:pt x="142875" y="90996"/>
                    </a:cubicBezTo>
                    <a:cubicBezTo>
                      <a:pt x="172339" y="82487"/>
                      <a:pt x="190500" y="66770"/>
                      <a:pt x="190500" y="49752"/>
                    </a:cubicBezTo>
                    <a:cubicBezTo>
                      <a:pt x="190500" y="32734"/>
                      <a:pt x="172339" y="17018"/>
                      <a:pt x="142875" y="8509"/>
                    </a:cubicBezTo>
                    <a:cubicBezTo>
                      <a:pt x="113411" y="0"/>
                      <a:pt x="77089" y="0"/>
                      <a:pt x="47625" y="8509"/>
                    </a:cubicBezTo>
                    <a:cubicBezTo>
                      <a:pt x="18161" y="17018"/>
                      <a:pt x="0" y="32734"/>
                      <a:pt x="0" y="49752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62025" y="2381250"/>
                <a:ext cx="31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190500">
                    <a:moveTo>
                      <a:pt x="0" y="0"/>
                    </a:moveTo>
                    <a:lnTo>
                      <a:pt x="0" y="158750"/>
                    </a:lnTo>
                    <a:cubicBezTo>
                      <a:pt x="0" y="172847"/>
                      <a:pt x="12256" y="181769"/>
                      <a:pt x="31750" y="19050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62025" y="24606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0"/>
                    </a:moveTo>
                    <a:cubicBezTo>
                      <a:pt x="0" y="14097"/>
                      <a:pt x="12256" y="23019"/>
                      <a:pt x="31750" y="317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00684" y="2680335"/>
              <a:ext cx="334362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成本模型 Cost A–F</a:t>
              </a:r>
              <a:endPara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5256" y="33108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C2 = F / 总吨公里</a:t>
              </a:r>
              <a:endParaRPr lang="zh-CN" sz="1800" dirty="0">
                <a:solidFill>
                  <a:schemeClr val="accent2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6780" y="3648075"/>
              <a:ext cx="37105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单位成本 · 归一化经营指标 · 跨场景可比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" y="40767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238625"/>
              <a:ext cx="36423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直接成本：车辆等待总量 + 空驶里程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6780" y="4543425"/>
              <a:ext cx="36423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 快运成本：加权货物等待 + 最慢等待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6780" y="4848225"/>
              <a:ext cx="44317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 效率+公平：空驶占比 + 等运占比 + 最长等待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6780" y="5153025"/>
              <a:ext cx="3486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 平台成本：剩余运能 + 最小剩余 gap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6780" y="5457825"/>
              <a:ext cx="3855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 风险成本：均值 + 三类时间标准差加权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6780" y="5686425"/>
              <a:ext cx="51998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 综合成本 = A–E 加权 + 方向角惩罚 → SA/NF 打分目标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48400" y="2000250"/>
            <a:ext cx="5334000" cy="4000500"/>
            <a:chOff x="6248400" y="2000250"/>
            <a:chExt cx="5334000" cy="4000500"/>
          </a:xfrm>
        </p:grpSpPr>
        <p:sp>
          <p:nvSpPr>
            <p:cNvPr id="24" name="Rectangle 24"/>
            <p:cNvSpPr/>
            <p:nvPr/>
          </p:nvSpPr>
          <p:spPr>
            <a:xfrm>
              <a:off x="6248400" y="2000250"/>
              <a:ext cx="5334000" cy="40005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616478" y="2349500"/>
              <a:ext cx="254223" cy="269875"/>
              <a:chOff x="6616478" y="2349500"/>
              <a:chExt cx="254223" cy="26987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632575" y="2460625"/>
                <a:ext cx="111125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58750">
                    <a:moveTo>
                      <a:pt x="0" y="158750"/>
                    </a:moveTo>
                    <a:cubicBezTo>
                      <a:pt x="7938" y="87313"/>
                      <a:pt x="39688" y="31750"/>
                      <a:pt x="111125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616478" y="2349500"/>
                <a:ext cx="254223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54223" h="222250">
                    <a:moveTo>
                      <a:pt x="79597" y="222250"/>
                    </a:moveTo>
                    <a:cubicBezTo>
                      <a:pt x="178308" y="222250"/>
                      <a:pt x="246285" y="170053"/>
                      <a:pt x="254223" y="31750"/>
                    </a:cubicBezTo>
                    <a:lnTo>
                      <a:pt x="254223" y="0"/>
                    </a:lnTo>
                    <a:lnTo>
                      <a:pt x="190500" y="0"/>
                    </a:lnTo>
                    <a:cubicBezTo>
                      <a:pt x="47625" y="0"/>
                      <a:pt x="222" y="63500"/>
                      <a:pt x="0" y="142875"/>
                    </a:cubicBezTo>
                    <a:cubicBezTo>
                      <a:pt x="0" y="158750"/>
                      <a:pt x="0" y="190500"/>
                      <a:pt x="31750" y="222250"/>
                    </a:cubicBezTo>
                    <a:lnTo>
                      <a:pt x="79375" y="222250"/>
                    </a:lnTo>
                    <a:lnTo>
                      <a:pt x="79597" y="2222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539484" y="2680335"/>
              <a:ext cx="198319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绿色低碳 G</a:t>
              </a:r>
              <a:endPara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44056" y="3310890"/>
              <a:ext cx="33595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G1 = Σ(里程 × 车型排放因子)</a:t>
              </a:r>
              <a:endParaRPr lang="zh-CN" sz="1800" dirty="0">
                <a:solidFill>
                  <a:schemeClr val="accent2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45580" y="3648075"/>
              <a:ext cx="29836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总碳排放 · 空驶/满载分别计因子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Line 31"/>
            <p:cNvSpPr/>
            <p:nvPr/>
          </p:nvSpPr>
          <p:spPr>
            <a:xfrm>
              <a:off x="6553200" y="40767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44056" y="4206240"/>
              <a:ext cx="21945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G2 = G1 / 总吨公里</a:t>
              </a:r>
              <a:endParaRPr lang="zh-CN" sz="1800" dirty="0">
                <a:solidFill>
                  <a:schemeClr val="accent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45580" y="454342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单位吨公里碳排放 · 可对标行业基准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45580" y="4981575"/>
              <a:ext cx="3296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因子来源：emission_factor 配置表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45580" y="5286375"/>
              <a:ext cx="3307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未配置时默认估算并标记 Estimated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45580" y="5686425"/>
              <a:ext cx="44637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与 U4 空驶率强正相关 · 优化空驶自动改善碳排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8" name="Line 38"/>
          <p:cNvSpPr/>
          <p:nvPr/>
        </p:nvSpPr>
        <p:spPr>
          <a:xfrm>
            <a:off x="609600" y="63627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03504" y="6461760"/>
            <a:ext cx="5135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Source: stats.go calculateSnapshotCost · calculateCarbonStats</a:t>
            </a:r>
            <a:endParaRPr lang="en-US" sz="12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980" y="295275"/>
            <a:ext cx="21488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225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PART 1 · 指标体系</a:t>
            </a:r>
            <a:endParaRPr lang="zh-CN" sz="1500" spc="225" dirty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898314" y="295275"/>
            <a:ext cx="6917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5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06 / 10</a:t>
            </a:r>
            <a:endParaRPr lang="en-US" sz="15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90550" y="689610"/>
            <a:ext cx="12505258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基尼系数、拒单与事件指标补齐公平与可靠视角</a:t>
            </a:r>
            <a:endParaRPr lang="zh-CN" sz="4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00456" y="1443990"/>
            <a:ext cx="681593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F1 衡量负载均衡，R4–R6 量化事故/维修/休息对运力的扰动</a:t>
            </a:r>
            <a:endParaRPr lang="zh-CN" sz="18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609600" y="2000250"/>
            <a:ext cx="5334000" cy="4000500"/>
            <a:chOff x="609600" y="2000250"/>
            <a:chExt cx="5334000" cy="4000500"/>
          </a:xfrm>
        </p:grpSpPr>
        <p:sp>
          <p:nvSpPr>
            <p:cNvPr id="6" name="Rectangle 6"/>
            <p:cNvSpPr/>
            <p:nvPr/>
          </p:nvSpPr>
          <p:spPr>
            <a:xfrm>
              <a:off x="609600" y="2000250"/>
              <a:ext cx="5334000" cy="40005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62025" y="2333625"/>
              <a:ext cx="285750" cy="279401"/>
              <a:chOff x="962025" y="2333625"/>
              <a:chExt cx="285750" cy="27940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25525" y="2603501"/>
                <a:ext cx="15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">
                    <a:moveTo>
                      <a:pt x="0" y="0"/>
                    </a:moveTo>
                    <a:lnTo>
                      <a:pt x="1587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09650" y="2365375"/>
                <a:ext cx="19050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5875">
                    <a:moveTo>
                      <a:pt x="0" y="15875"/>
                    </a:moveTo>
                    <a:lnTo>
                      <a:pt x="95250" y="0"/>
                    </a:lnTo>
                    <a:lnTo>
                      <a:pt x="190500" y="1587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04900" y="2333625"/>
                <a:ext cx="9525" cy="26987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6">
                    <a:moveTo>
                      <a:pt x="0" y="0"/>
                    </a:moveTo>
                    <a:lnTo>
                      <a:pt x="0" y="269876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62025" y="238125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52525" y="238125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00684" y="2680335"/>
              <a:ext cx="278969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公平与满意度 F</a:t>
              </a:r>
              <a:endPara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5256" y="3310890"/>
              <a:ext cx="36667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F1 基尼系数（0 均衡 ~ 1 不均）</a:t>
              </a:r>
              <a:endParaRPr lang="zh-CN" sz="1800" dirty="0">
                <a:solidFill>
                  <a:schemeClr val="accent2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6780" y="36480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按单车装载率排序的洛伦兹曲线面积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" y="40767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5256" y="4244340"/>
              <a:ext cx="16568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F2 司机拒单数</a:t>
              </a:r>
              <a:endParaRPr lang="zh-CN" sz="1800" dirty="0">
                <a:solidFill>
                  <a:schemeClr val="accent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6780" y="45815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拒单随机事件累计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6780" y="48672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度量司机意愿与派单质量交互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6780" y="5457825"/>
              <a:ext cx="48277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优化时作软约束：Gini ≤ 0.4，防止运单集中给少数车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48400" y="2000250"/>
            <a:ext cx="5334000" cy="4036695"/>
            <a:chOff x="6248400" y="2000250"/>
            <a:chExt cx="5334000" cy="4036695"/>
          </a:xfrm>
        </p:grpSpPr>
        <p:sp>
          <p:nvSpPr>
            <p:cNvPr id="22" name="Rectangle 22"/>
            <p:cNvSpPr/>
            <p:nvPr/>
          </p:nvSpPr>
          <p:spPr>
            <a:xfrm>
              <a:off x="6248400" y="2000250"/>
              <a:ext cx="5334000" cy="40005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579401" y="2333625"/>
              <a:ext cx="310011" cy="285751"/>
              <a:chOff x="6579401" y="2333625"/>
              <a:chExt cx="310011" cy="28575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579401" y="233362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791325" y="255587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539484" y="2680335"/>
              <a:ext cx="359619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可靠性与随机事件 R</a:t>
              </a:r>
              <a:endPara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44056" y="3310890"/>
              <a:ext cx="35899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R4 运输事故数 · R5 维修中车辆</a:t>
              </a:r>
              <a:endParaRPr lang="zh-CN" sz="1800" dirty="0">
                <a:solidFill>
                  <a:schemeClr val="accent2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45580" y="3648075"/>
              <a:ext cx="45114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accident 事件累计 · 实时扫描 Maintenance 状态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Line 29"/>
            <p:cNvSpPr/>
            <p:nvPr/>
          </p:nvSpPr>
          <p:spPr>
            <a:xfrm>
              <a:off x="6553200" y="40767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44056" y="4244340"/>
              <a:ext cx="19129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R6 休息中司机数</a:t>
              </a:r>
              <a:endParaRPr lang="zh-CN" sz="1800" dirty="0">
                <a:solidFill>
                  <a:schemeClr val="accent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45580" y="4581525"/>
              <a:ext cx="2367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实时扫描 driver 休息状态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45580" y="48672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度量人力约束对运力影响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45580" y="5267325"/>
              <a:ext cx="25797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事件流：最近 10 条随机事件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45580" y="553402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refuse / rest / weather / accident</a:t>
              </a:r>
              <a:endParaRPr lang="en-US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45580" y="5743575"/>
              <a:ext cx="3680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随机性不可控 → 作风险监控，不直接优化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7" name="Line 37"/>
          <p:cNvSpPr/>
          <p:nvPr/>
        </p:nvSpPr>
        <p:spPr>
          <a:xfrm>
            <a:off x="609600" y="63627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03504" y="6461760"/>
            <a:ext cx="37015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Source: random_event.go · realtime_stats.go</a:t>
            </a:r>
            <a:endParaRPr lang="en-US" sz="12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980" y="295275"/>
            <a:ext cx="31302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225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PART 2 · 全局优化对象选型</a:t>
            </a:r>
            <a:endParaRPr lang="zh-CN" sz="1500" spc="225" dirty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898314" y="295275"/>
            <a:ext cx="6917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5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07 / 10</a:t>
            </a:r>
            <a:endParaRPr lang="en-US" sz="15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218068" y="1261110"/>
            <a:ext cx="775586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全局优化的本质：多目标权衡</a:t>
            </a:r>
            <a:endParaRPr lang="zh-CN" sz="4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2286000" y="2190750"/>
            <a:ext cx="7620000" cy="104775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647455" y="2375535"/>
            <a:ext cx="689709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优化任一指标时，其他指标可能不是最优</a:t>
            </a:r>
            <a:endParaRPr lang="zh-CN" sz="27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765232" y="2886075"/>
            <a:ext cx="46615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Cost F 加权标量化 → 权重固定即隐性牺牲某些维度</a:t>
            </a:r>
            <a:endParaRPr lang="zh-CN" sz="1500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714500" y="3429000"/>
            <a:ext cx="8763000" cy="2438400"/>
            <a:chOff x="1714500" y="3429000"/>
            <a:chExt cx="8763000" cy="2438400"/>
          </a:xfrm>
        </p:grpSpPr>
        <p:sp>
          <p:nvSpPr>
            <p:cNvPr id="8" name="TextBox 8"/>
            <p:cNvSpPr txBox="1"/>
            <p:nvPr/>
          </p:nvSpPr>
          <p:spPr>
            <a:xfrm>
              <a:off x="5235702" y="469392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帕累托视角</a:t>
              </a:r>
              <a:endParaRPr lang="zh-CN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9" name="Ellipse 9"/>
            <p:cNvSpPr/>
            <p:nvPr/>
          </p:nvSpPr>
          <p:spPr>
            <a:xfrm>
              <a:off x="5429250" y="4095750"/>
              <a:ext cx="1333500" cy="1333500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custDash>
                <a:ds d="200000" sp="200000"/>
              </a:custDash>
            </a:ln>
          </p:spPr>
        </p:sp>
        <p:sp>
          <p:nvSpPr>
            <p:cNvPr id="10" name="Rectangle 10"/>
            <p:cNvSpPr/>
            <p:nvPr/>
          </p:nvSpPr>
          <p:spPr>
            <a:xfrm>
              <a:off x="5143500" y="3429000"/>
              <a:ext cx="1905000" cy="533400"/>
            </a:xfrm>
            <a:prstGeom prst="roundRect">
              <a:avLst>
                <a:gd name="adj" fmla="val 1785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528310" y="3600450"/>
              <a:ext cx="1135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U2 装载率 ↑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Freeform 12"/>
            <p:cNvSpPr/>
            <p:nvPr/>
          </p:nvSpPr>
          <p:spPr>
            <a:xfrm>
              <a:off x="6096000" y="396240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239000" y="5334000"/>
              <a:ext cx="1905000" cy="533400"/>
            </a:xfrm>
            <a:prstGeom prst="roundRect">
              <a:avLst>
                <a:gd name="adj" fmla="val 1785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30490" y="5505450"/>
              <a:ext cx="922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T2 响应 ↓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6667500" y="4810125"/>
              <a:ext cx="1333500" cy="504825"/>
            </a:xfrm>
            <a:custGeom>
              <a:avLst/>
              <a:gdLst/>
              <a:ahLst/>
              <a:cxnLst/>
              <a:rect l="l" t="t" r="r" b="b"/>
              <a:pathLst>
                <a:path w="1333500" h="504825">
                  <a:moveTo>
                    <a:pt x="0" y="0"/>
                  </a:moveTo>
                  <a:cubicBezTo>
                    <a:pt x="571500" y="238125"/>
                    <a:pt x="952500" y="333375"/>
                    <a:pt x="1333500" y="504825"/>
                  </a:cubicBez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048000" y="5334000"/>
              <a:ext cx="1905000" cy="533400"/>
            </a:xfrm>
            <a:prstGeom prst="roundRect">
              <a:avLst>
                <a:gd name="adj" fmla="val 1785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432810" y="5505450"/>
              <a:ext cx="1135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U4 空驶率 ↓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4191000" y="4810125"/>
              <a:ext cx="1333500" cy="504825"/>
            </a:xfrm>
            <a:custGeom>
              <a:avLst/>
              <a:gdLst/>
              <a:ahLst/>
              <a:cxnLst/>
              <a:rect l="l" t="t" r="r" b="b"/>
              <a:pathLst>
                <a:path w="1333500" h="504825">
                  <a:moveTo>
                    <a:pt x="1333500" y="0"/>
                  </a:moveTo>
                  <a:cubicBezTo>
                    <a:pt x="762000" y="238125"/>
                    <a:pt x="381000" y="333375"/>
                    <a:pt x="0" y="504825"/>
                  </a:cubicBez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572500" y="3429000"/>
              <a:ext cx="1905000" cy="533400"/>
            </a:xfrm>
            <a:prstGeom prst="roundRect">
              <a:avLst>
                <a:gd name="adj" fmla="val 1785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850630" y="3600450"/>
              <a:ext cx="1348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G2 单位碳排 ↓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Freeform 21"/>
            <p:cNvSpPr/>
            <p:nvPr/>
          </p:nvSpPr>
          <p:spPr>
            <a:xfrm>
              <a:off x="6953250" y="4000500"/>
              <a:ext cx="1809750" cy="571500"/>
            </a:xfrm>
            <a:custGeom>
              <a:avLst/>
              <a:gdLst/>
              <a:ahLst/>
              <a:cxnLst/>
              <a:rect l="l" t="t" r="r" b="b"/>
              <a:pathLst>
                <a:path w="1809750" h="571500">
                  <a:moveTo>
                    <a:pt x="0" y="571500"/>
                  </a:moveTo>
                  <a:cubicBezTo>
                    <a:pt x="666750" y="381000"/>
                    <a:pt x="1238250" y="190500"/>
                    <a:pt x="1809750" y="0"/>
                  </a:cubicBez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714500" y="3429000"/>
              <a:ext cx="1905000" cy="533400"/>
            </a:xfrm>
            <a:prstGeom prst="roundRect">
              <a:avLst>
                <a:gd name="adj" fmla="val 1785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901952" y="3600450"/>
              <a:ext cx="1530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F1 基尼系数 → 0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>
            <a:xfrm>
              <a:off x="3429000" y="4000500"/>
              <a:ext cx="1809750" cy="571500"/>
            </a:xfrm>
            <a:custGeom>
              <a:avLst/>
              <a:gdLst/>
              <a:ahLst/>
              <a:cxnLst/>
              <a:rect l="l" t="t" r="r" b="b"/>
              <a:pathLst>
                <a:path w="1809750" h="571500">
                  <a:moveTo>
                    <a:pt x="1809750" y="571500"/>
                  </a:moveTo>
                  <a:cubicBezTo>
                    <a:pt x="1143000" y="381000"/>
                    <a:pt x="571500" y="190500"/>
                    <a:pt x="0" y="0"/>
                  </a:cubicBez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</p:grpSp>
      <p:sp>
        <p:nvSpPr>
          <p:cNvPr id="26" name="Line 26"/>
          <p:cNvSpPr/>
          <p:nvPr/>
        </p:nvSpPr>
        <p:spPr>
          <a:xfrm>
            <a:off x="609600" y="63627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02742" y="6464618"/>
            <a:ext cx="72722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例如：提高装载率 U2 → 拼车等待变久 → T2 变差；压低空驶 U4 → 原地等单 → 响应变慢</a:t>
            </a:r>
            <a:endParaRPr lang="zh-CN" sz="135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980" y="295275"/>
            <a:ext cx="31302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225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PART 2 · 全局优化对象选型</a:t>
            </a:r>
            <a:endParaRPr lang="zh-CN" sz="1500" spc="225" dirty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898314" y="295275"/>
            <a:ext cx="6917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5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08 / 10</a:t>
            </a:r>
            <a:endParaRPr lang="en-US" sz="15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90550" y="689610"/>
            <a:ext cx="9447836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4 主目标 + 2 软约束的全局优化框架</a:t>
            </a:r>
            <a:endParaRPr lang="zh-CN" sz="4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00456" y="1443990"/>
            <a:ext cx="84545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C2 裁决，U2 / U4 / T2 过程主目标；F1 / G2 软约束；其余指标监控不优化</a:t>
            </a:r>
            <a:endParaRPr lang="zh-CN" sz="18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50" name="Group 50"/>
          <p:cNvGrpSpPr/>
          <p:nvPr/>
        </p:nvGrpSpPr>
        <p:grpSpPr>
          <a:xfrm>
            <a:off x="609600" y="2000250"/>
            <a:ext cx="10744200" cy="2667000"/>
            <a:chOff x="609600" y="2000250"/>
            <a:chExt cx="10744200" cy="2667000"/>
          </a:xfrm>
        </p:grpSpPr>
        <p:sp>
          <p:nvSpPr>
            <p:cNvPr id="6" name="Rectangle 6"/>
            <p:cNvSpPr/>
            <p:nvPr/>
          </p:nvSpPr>
          <p:spPr>
            <a:xfrm>
              <a:off x="609600" y="2000250"/>
              <a:ext cx="2514600" cy="2667000"/>
            </a:xfrm>
            <a:prstGeom prst="roundRect">
              <a:avLst>
                <a:gd name="adj" fmla="val 4545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57262" y="2290762"/>
              <a:ext cx="257175" cy="257175"/>
              <a:chOff x="957262" y="2290762"/>
              <a:chExt cx="257175" cy="25717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71562" y="240506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14412" y="23479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57262" y="22907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906780" y="2695575"/>
              <a:ext cx="1105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#1 裁决目标</a:t>
              </a:r>
              <a:endParaRPr lang="zh-CN" sz="1500" dirty="0">
                <a:solidFill>
                  <a:schemeClr val="accent2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9160" y="2914650"/>
              <a:ext cx="90418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C2 ↓</a:t>
              </a:r>
              <a:endParaRPr lang="en-US" sz="300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6780" y="34194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A"/>
                  </a:solidFill>
                  <a:latin typeface="+mn-lt"/>
                  <a:ea typeface="+mn-ea"/>
                  <a:cs typeface="+mn-cs"/>
                </a:rPr>
                <a:t>单位成本最小化</a:t>
              </a:r>
              <a:endParaRPr lang="zh-CN" sz="1500" dirty="0">
                <a:solidFill>
                  <a:srgbClr val="F4F7F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914400" y="37909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7542" y="39500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A"/>
                  </a:solidFill>
                  <a:latin typeface="+mn-lt"/>
                  <a:ea typeface="+mn-ea"/>
                  <a:cs typeface="+mn-cs"/>
                </a:rPr>
                <a:t>归一化经营指标，跨场景可比</a:t>
              </a:r>
              <a:endParaRPr lang="zh-CN" sz="1350" dirty="0">
                <a:solidFill>
                  <a:srgbClr val="F4F7F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7542" y="4216718"/>
              <a:ext cx="2770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A"/>
                  </a:solidFill>
                  <a:latin typeface="+mn-lt"/>
                  <a:ea typeface="+mn-ea"/>
                  <a:cs typeface="+mn-cs"/>
                </a:rPr>
                <a:t>与 Cost A–F 同源，决策单一叙事</a:t>
              </a:r>
              <a:endParaRPr lang="zh-CN" sz="1350" dirty="0">
                <a:solidFill>
                  <a:srgbClr val="F4F7F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352800" y="2000250"/>
              <a:ext cx="2514600" cy="2667000"/>
            </a:xfrm>
            <a:prstGeom prst="roundRect">
              <a:avLst>
                <a:gd name="adj" fmla="val 4545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3700462" y="2290762"/>
              <a:ext cx="257175" cy="257175"/>
              <a:chOff x="3700462" y="2290762"/>
              <a:chExt cx="257175" cy="25717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3700462" y="22907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814762" y="240506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849195" y="2362200"/>
                <a:ext cx="37005" cy="37005"/>
              </a:xfrm>
              <a:custGeom>
                <a:avLst/>
                <a:gdLst/>
                <a:ahLst/>
                <a:cxnLst/>
                <a:rect l="l" t="t" r="r" b="b"/>
                <a:pathLst>
                  <a:path w="37005" h="37005">
                    <a:moveTo>
                      <a:pt x="0" y="37005"/>
                    </a:moveTo>
                    <a:lnTo>
                      <a:pt x="37005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757612" y="234791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71438"/>
                    </a:moveTo>
                    <a:cubicBezTo>
                      <a:pt x="0" y="31984"/>
                      <a:pt x="31984" y="0"/>
                      <a:pt x="71438" y="0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3649980" y="2695575"/>
              <a:ext cx="1105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#2 过程目标</a:t>
              </a:r>
              <a:endParaRPr lang="zh-CN" sz="1500" dirty="0">
                <a:solidFill>
                  <a:schemeClr val="accent2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42360" y="2914650"/>
              <a:ext cx="90418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U2 ↑</a:t>
              </a:r>
              <a:endParaRPr lang="en-US" sz="300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49980" y="34194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A"/>
                  </a:solidFill>
                  <a:latin typeface="+mn-lt"/>
                  <a:ea typeface="+mn-ea"/>
                  <a:cs typeface="+mn-cs"/>
                </a:rPr>
                <a:t>装载率均值最大化</a:t>
              </a:r>
              <a:endParaRPr lang="zh-CN" sz="1500" dirty="0">
                <a:solidFill>
                  <a:srgbClr val="F4F7F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3657600" y="37909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650742" y="39500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A"/>
                  </a:solidFill>
                  <a:latin typeface="+mn-lt"/>
                  <a:ea typeface="+mn-ea"/>
                  <a:cs typeface="+mn-cs"/>
                </a:rPr>
                <a:t>同时压标准差，看负载均衡</a:t>
              </a:r>
              <a:endParaRPr lang="zh-CN" sz="1350" dirty="0">
                <a:solidFill>
                  <a:srgbClr val="F4F7F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50742" y="4216718"/>
              <a:ext cx="2559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A"/>
                  </a:solidFill>
                  <a:latin typeface="+mn-lt"/>
                  <a:ea typeface="+mn-ea"/>
                  <a:cs typeface="+mn-cs"/>
                </a:rPr>
                <a:t>与 ByCapacity 同源，链路成熟</a:t>
              </a:r>
              <a:endParaRPr lang="zh-CN" sz="1350" dirty="0">
                <a:solidFill>
                  <a:srgbClr val="F4F7F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096000" y="2000250"/>
              <a:ext cx="2514600" cy="2667000"/>
            </a:xfrm>
            <a:prstGeom prst="roundRect">
              <a:avLst>
                <a:gd name="adj" fmla="val 4545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443662" y="2290762"/>
              <a:ext cx="257176" cy="257176"/>
              <a:chOff x="6443662" y="2290762"/>
              <a:chExt cx="257176" cy="25717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443662" y="2490788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643688" y="229076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28575" y="57150"/>
                    </a:move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  <a:cubicBezTo>
                      <a:pt x="0" y="44357"/>
                      <a:pt x="12793" y="57150"/>
                      <a:pt x="28575" y="57150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472238" y="2319338"/>
                <a:ext cx="214312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00025">
                    <a:moveTo>
                      <a:pt x="85725" y="200025"/>
                    </a:moveTo>
                    <a:lnTo>
                      <a:pt x="164306" y="200025"/>
                    </a:lnTo>
                    <a:cubicBezTo>
                      <a:pt x="191924" y="200025"/>
                      <a:pt x="214312" y="177636"/>
                      <a:pt x="214312" y="150019"/>
                    </a:cubicBezTo>
                    <a:cubicBezTo>
                      <a:pt x="214312" y="122401"/>
                      <a:pt x="191924" y="100012"/>
                      <a:pt x="164306" y="100012"/>
                    </a:cubicBezTo>
                    <a:lnTo>
                      <a:pt x="50006" y="100012"/>
                    </a:lnTo>
                    <a:cubicBezTo>
                      <a:pt x="22389" y="100012"/>
                      <a:pt x="0" y="77624"/>
                      <a:pt x="0" y="50006"/>
                    </a:cubicBezTo>
                    <a:cubicBezTo>
                      <a:pt x="0" y="22389"/>
                      <a:pt x="22389" y="0"/>
                      <a:pt x="50006" y="0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393180" y="2695575"/>
              <a:ext cx="1105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#3 过程目标</a:t>
              </a:r>
              <a:endParaRPr lang="zh-CN" sz="1500" dirty="0">
                <a:solidFill>
                  <a:schemeClr val="accent2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85560" y="2914650"/>
              <a:ext cx="90418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U4 ↓</a:t>
              </a:r>
              <a:endParaRPr lang="en-US" sz="300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93180" y="34194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A"/>
                  </a:solidFill>
                  <a:latin typeface="+mn-lt"/>
                  <a:ea typeface="+mn-ea"/>
                  <a:cs typeface="+mn-cs"/>
                </a:rPr>
                <a:t>空驶率最小化</a:t>
              </a:r>
              <a:endParaRPr lang="zh-CN" sz="1500" dirty="0">
                <a:solidFill>
                  <a:srgbClr val="F4F7F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Line 37"/>
            <p:cNvSpPr/>
            <p:nvPr/>
          </p:nvSpPr>
          <p:spPr>
            <a:xfrm>
              <a:off x="6400800" y="37909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93942" y="3950018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A"/>
                  </a:solidFill>
                  <a:latin typeface="+mn-lt"/>
                  <a:ea typeface="+mn-ea"/>
                  <a:cs typeface="+mn-cs"/>
                </a:rPr>
                <a:t>燃油/成本/碳排共同驱动因子</a:t>
              </a:r>
              <a:endParaRPr lang="zh-CN" sz="1350" dirty="0">
                <a:solidFill>
                  <a:srgbClr val="F4F7F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93942" y="42167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A"/>
                  </a:solidFill>
                  <a:latin typeface="+mn-lt"/>
                  <a:ea typeface="+mn-ea"/>
                  <a:cs typeface="+mn-cs"/>
                </a:rPr>
                <a:t>优化它一举三得</a:t>
              </a:r>
              <a:endParaRPr lang="zh-CN" sz="1350" dirty="0">
                <a:solidFill>
                  <a:srgbClr val="F4F7F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839200" y="2000250"/>
              <a:ext cx="2514600" cy="2667000"/>
            </a:xfrm>
            <a:prstGeom prst="roundRect">
              <a:avLst>
                <a:gd name="adj" fmla="val 4545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9186862" y="2290762"/>
              <a:ext cx="257175" cy="257175"/>
              <a:chOff x="9186862" y="2290762"/>
              <a:chExt cx="257175" cy="25717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9186862" y="22907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315450" y="2347912"/>
                <a:ext cx="4286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114300">
                    <a:moveTo>
                      <a:pt x="0" y="0"/>
                    </a:moveTo>
                    <a:lnTo>
                      <a:pt x="0" y="71438"/>
                    </a:lnTo>
                    <a:lnTo>
                      <a:pt x="42862" y="1143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9136380" y="2695575"/>
              <a:ext cx="1105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#4 过程目标</a:t>
              </a:r>
              <a:endParaRPr lang="zh-CN" sz="1500" dirty="0">
                <a:solidFill>
                  <a:schemeClr val="accent2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28760" y="2914650"/>
              <a:ext cx="90418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T2 ↓</a:t>
              </a:r>
              <a:endParaRPr lang="en-US" sz="300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36380" y="3419475"/>
              <a:ext cx="1988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A"/>
                  </a:solidFill>
                  <a:latin typeface="+mn-lt"/>
                  <a:ea typeface="+mn-ea"/>
                  <a:cs typeface="+mn-cs"/>
                </a:rPr>
                <a:t>匹配响应 P95 最小化</a:t>
              </a:r>
              <a:endParaRPr lang="zh-CN" sz="1500" dirty="0">
                <a:solidFill>
                  <a:srgbClr val="F4F7F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Line 47"/>
            <p:cNvSpPr/>
            <p:nvPr/>
          </p:nvSpPr>
          <p:spPr>
            <a:xfrm>
              <a:off x="9144000" y="37909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137142" y="3950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A"/>
                  </a:solidFill>
                  <a:latin typeface="+mn-lt"/>
                  <a:ea typeface="+mn-ea"/>
                  <a:cs typeface="+mn-cs"/>
                </a:rPr>
                <a:t>尾部指标，时效对冲项</a:t>
              </a:r>
              <a:endParaRPr lang="zh-CN" sz="1350" dirty="0">
                <a:solidFill>
                  <a:srgbClr val="F4F7F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37142" y="4216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A"/>
                  </a:solidFill>
                  <a:latin typeface="+mn-lt"/>
                  <a:ea typeface="+mn-ea"/>
                  <a:cs typeface="+mn-cs"/>
                </a:rPr>
                <a:t>防止拼车优化导致订单滞留</a:t>
              </a:r>
              <a:endParaRPr lang="zh-CN" sz="1350" dirty="0">
                <a:solidFill>
                  <a:srgbClr val="F4F7F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09600" y="4914900"/>
            <a:ext cx="10972800" cy="695706"/>
            <a:chOff x="609600" y="4914900"/>
            <a:chExt cx="10972800" cy="695706"/>
          </a:xfrm>
        </p:grpSpPr>
        <p:sp>
          <p:nvSpPr>
            <p:cNvPr id="51" name="Rectangle 51"/>
            <p:cNvSpPr/>
            <p:nvPr/>
          </p:nvSpPr>
          <p:spPr>
            <a:xfrm>
              <a:off x="609600" y="4914900"/>
              <a:ext cx="533400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909638" y="5119688"/>
              <a:ext cx="200025" cy="198438"/>
              <a:chOff x="909638" y="5119688"/>
              <a:chExt cx="200025" cy="198438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954088" y="5308601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42975" y="5141913"/>
                <a:ext cx="133350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1113">
                    <a:moveTo>
                      <a:pt x="0" y="11113"/>
                    </a:moveTo>
                    <a:lnTo>
                      <a:pt x="66675" y="0"/>
                    </a:lnTo>
                    <a:lnTo>
                      <a:pt x="133350" y="11113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009650" y="5119688"/>
                <a:ext cx="9525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8913">
                    <a:moveTo>
                      <a:pt x="0" y="0"/>
                    </a:moveTo>
                    <a:lnTo>
                      <a:pt x="0" y="188913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909638" y="5153025"/>
                <a:ext cx="6667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0013">
                    <a:moveTo>
                      <a:pt x="66675" y="66675"/>
                    </a:moveTo>
                    <a:lnTo>
                      <a:pt x="33338" y="0"/>
                    </a:lnTo>
                    <a:lnTo>
                      <a:pt x="0" y="66675"/>
                    </a:lnTo>
                    <a:cubicBezTo>
                      <a:pt x="0" y="85087"/>
                      <a:pt x="14926" y="100013"/>
                      <a:pt x="33338" y="100013"/>
                    </a:cubicBezTo>
                    <a:cubicBezTo>
                      <a:pt x="51749" y="100013"/>
                      <a:pt x="66675" y="85087"/>
                      <a:pt x="66675" y="66675"/>
                    </a:cubicBez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042988" y="5153025"/>
                <a:ext cx="6667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0013">
                    <a:moveTo>
                      <a:pt x="66675" y="66675"/>
                    </a:moveTo>
                    <a:lnTo>
                      <a:pt x="33338" y="0"/>
                    </a:lnTo>
                    <a:lnTo>
                      <a:pt x="0" y="66675"/>
                    </a:lnTo>
                    <a:cubicBezTo>
                      <a:pt x="0" y="85087"/>
                      <a:pt x="14926" y="100013"/>
                      <a:pt x="33338" y="100013"/>
                    </a:cubicBezTo>
                    <a:cubicBezTo>
                      <a:pt x="51749" y="100013"/>
                      <a:pt x="66675" y="85087"/>
                      <a:pt x="66675" y="66675"/>
                    </a:cubicBez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249680" y="5133975"/>
              <a:ext cx="26182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软约束：F1 基尼系数 ≤ 0.4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251204" y="53759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防止为拼效率把运单集中给少数车辆</a:t>
              </a:r>
              <a:endPara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4914900"/>
              <a:ext cx="533400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559395" y="5130800"/>
              <a:ext cx="177956" cy="188913"/>
              <a:chOff x="6559395" y="5130800"/>
              <a:chExt cx="177956" cy="18891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570663" y="5208588"/>
                <a:ext cx="777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111125">
                    <a:moveTo>
                      <a:pt x="0" y="111125"/>
                    </a:moveTo>
                    <a:cubicBezTo>
                      <a:pt x="5556" y="61119"/>
                      <a:pt x="27781" y="22225"/>
                      <a:pt x="77788" y="0"/>
                    </a:cubicBez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559395" y="5130800"/>
                <a:ext cx="177956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77956" h="155575">
                    <a:moveTo>
                      <a:pt x="55718" y="155575"/>
                    </a:moveTo>
                    <a:cubicBezTo>
                      <a:pt x="124816" y="155575"/>
                      <a:pt x="172400" y="119037"/>
                      <a:pt x="177956" y="22225"/>
                    </a:cubicBezTo>
                    <a:lnTo>
                      <a:pt x="177956" y="0"/>
                    </a:lnTo>
                    <a:lnTo>
                      <a:pt x="133350" y="0"/>
                    </a:lnTo>
                    <a:cubicBezTo>
                      <a:pt x="33338" y="0"/>
                      <a:pt x="156" y="44450"/>
                      <a:pt x="0" y="100013"/>
                    </a:cubicBezTo>
                    <a:cubicBezTo>
                      <a:pt x="0" y="111125"/>
                      <a:pt x="0" y="133350"/>
                      <a:pt x="22225" y="155575"/>
                    </a:cubicBezTo>
                    <a:lnTo>
                      <a:pt x="55563" y="155575"/>
                    </a:lnTo>
                    <a:lnTo>
                      <a:pt x="55718" y="155575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888480" y="5133975"/>
              <a:ext cx="2020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软约束：G2 单位碳排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90004" y="5375910"/>
              <a:ext cx="3545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 U4 强正相关，优化空驶自动改善，报告即可</a:t>
              </a:r>
              <a:endPara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602742" y="5797868"/>
            <a:ext cx="965332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风险监控（不优化）：U3 在线率 · R4 事故数 · R5 维修车 · R6 休息司机 · F2 拒单数 · M 系精准度（P2 待落地）</a:t>
            </a:r>
            <a:endParaRPr lang="zh-CN" sz="135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8" name="Line 68"/>
          <p:cNvSpPr/>
          <p:nvPr/>
        </p:nvSpPr>
        <p:spPr>
          <a:xfrm>
            <a:off x="609600" y="63627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603504" y="6461760"/>
            <a:ext cx="40956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Source: 统计指标总结与全局优化对象.md · §2.2/§2.3</a:t>
            </a:r>
            <a:endParaRPr lang="zh-CN" sz="12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980" y="295275"/>
            <a:ext cx="31302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225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PART 2 · 全局优化对象选型</a:t>
            </a:r>
            <a:endParaRPr lang="zh-CN" sz="1500" spc="225" dirty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898314" y="295275"/>
            <a:ext cx="6917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5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09 / 10</a:t>
            </a:r>
            <a:endParaRPr lang="en-US" sz="15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90550" y="689610"/>
            <a:ext cx="775586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两组核心矛盾决定帕累托前沿</a:t>
            </a:r>
            <a:endParaRPr lang="zh-CN" sz="4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00456" y="1443990"/>
            <a:ext cx="611185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U2↔T2 与 U4↔T2 构成帕累托端点，C2 是合成裁决目标</a:t>
            </a:r>
            <a:endParaRPr lang="zh-CN" sz="18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609600" y="2000250"/>
            <a:ext cx="5334000" cy="3810000"/>
            <a:chOff x="609600" y="2000250"/>
            <a:chExt cx="5334000" cy="3810000"/>
          </a:xfrm>
        </p:grpSpPr>
        <p:sp>
          <p:nvSpPr>
            <p:cNvPr id="6" name="Rectangle 6"/>
            <p:cNvSpPr/>
            <p:nvPr/>
          </p:nvSpPr>
          <p:spPr>
            <a:xfrm>
              <a:off x="609600" y="200025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03510" y="2217420"/>
              <a:ext cx="41461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矛盾一：装载率 ↔ 响应时间</a:t>
              </a:r>
              <a:endParaRPr lang="zh-CN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43000" y="2857500"/>
              <a:ext cx="17145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19022" y="2948940"/>
              <a:ext cx="1362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U2 装载率 ↑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90294" y="3299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拼车凑满载</a:t>
              </a:r>
              <a:endPara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Freeform 11"/>
            <p:cNvSpPr/>
            <p:nvPr/>
          </p:nvSpPr>
          <p:spPr>
            <a:xfrm>
              <a:off x="3048000" y="32004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221480" y="29813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变差</a:t>
              </a:r>
              <a:endParaRPr lang="zh-CN" sz="15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429000" y="2857500"/>
              <a:ext cx="17145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733038" y="2948940"/>
              <a:ext cx="11064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T2 响应 ↑</a:t>
              </a:r>
              <a:endParaRPr lang="zh-CN" sz="18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95522" y="3299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订单滞留更久</a:t>
              </a:r>
              <a:endPara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1143000" y="3848100"/>
              <a:ext cx="4267200" cy="9525"/>
            </a:xfrm>
            <a:custGeom>
              <a:avLst/>
              <a:gdLst/>
              <a:ahLst/>
              <a:cxnLst/>
              <a:rect l="l" t="t" r="r" b="b"/>
              <a:pathLst>
                <a:path w="4267200" h="9525">
                  <a:moveTo>
                    <a:pt x="0" y="0"/>
                  </a:moveTo>
                  <a:lnTo>
                    <a:pt x="42672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35380" y="3990975"/>
              <a:ext cx="2872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装载率越高 → 订单积压拼车越久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5380" y="4276725"/>
              <a:ext cx="1530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响应 P95 越差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5380" y="47910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二者构成帕累托前沿的两个端点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5380" y="5133975"/>
              <a:ext cx="40942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权衡点：在“满装载”与“快响应”间选经营倾向</a:t>
              </a:r>
              <a:endParaRPr lang="zh-CN" sz="15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48400" y="2000250"/>
            <a:ext cx="5334000" cy="3810000"/>
            <a:chOff x="6248400" y="2000250"/>
            <a:chExt cx="5334000" cy="3810000"/>
          </a:xfrm>
        </p:grpSpPr>
        <p:sp>
          <p:nvSpPr>
            <p:cNvPr id="22" name="Rectangle 22"/>
            <p:cNvSpPr/>
            <p:nvPr/>
          </p:nvSpPr>
          <p:spPr>
            <a:xfrm>
              <a:off x="6248400" y="200025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42310" y="2217420"/>
              <a:ext cx="41461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矛盾二：空驶率 ↔ 响应时间</a:t>
              </a:r>
              <a:endParaRPr lang="zh-CN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781800" y="2857500"/>
              <a:ext cx="17145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57822" y="2948940"/>
              <a:ext cx="1362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U4 空驶率 ↓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09866" y="3299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原地等单</a:t>
              </a:r>
              <a:endPara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Freeform 27"/>
            <p:cNvSpPr/>
            <p:nvPr/>
          </p:nvSpPr>
          <p:spPr>
            <a:xfrm>
              <a:off x="8686800" y="32004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860280" y="29813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变差</a:t>
              </a:r>
              <a:endParaRPr lang="zh-CN" sz="15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067800" y="2857500"/>
              <a:ext cx="17145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371838" y="2948940"/>
              <a:ext cx="11064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T2 响应 ↑</a:t>
              </a:r>
              <a:endParaRPr lang="zh-CN" sz="18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95866" y="3299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响应变慢</a:t>
              </a:r>
              <a:endPara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Line 32"/>
            <p:cNvSpPr/>
            <p:nvPr/>
          </p:nvSpPr>
          <p:spPr>
            <a:xfrm>
              <a:off x="6781800" y="3848100"/>
              <a:ext cx="4267200" cy="9525"/>
            </a:xfrm>
            <a:custGeom>
              <a:avLst/>
              <a:gdLst/>
              <a:ahLst/>
              <a:cxnLst/>
              <a:rect l="l" t="t" r="r" b="b"/>
              <a:pathLst>
                <a:path w="4267200" h="9525">
                  <a:moveTo>
                    <a:pt x="0" y="0"/>
                  </a:moveTo>
                  <a:lnTo>
                    <a:pt x="42672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74180" y="3990975"/>
              <a:ext cx="2872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空驶率越低 → 车辆倾向原地等单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74180" y="4276725"/>
              <a:ext cx="3013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响应变慢；见单即派则拉高空驶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74180" y="4791075"/>
              <a:ext cx="2735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C2 是 U2/U4 的合成裁决目标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74180" y="5133975"/>
              <a:ext cx="35463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只压空驶不考虑等待 → C2 不一定下降</a:t>
              </a:r>
              <a:endParaRPr lang="zh-CN" sz="15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8" name="Rectangle 38"/>
          <p:cNvSpPr/>
          <p:nvPr/>
        </p:nvSpPr>
        <p:spPr>
          <a:xfrm>
            <a:off x="609600" y="6019800"/>
            <a:ext cx="10972800" cy="495300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06780" y="6162675"/>
            <a:ext cx="883754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落地：TotalObjective = w1·C2 + w2·(−U2) + w3·U4 + w4·P95(T2)，权重扫描输出帕累托前沿</a:t>
            </a:r>
            <a:endParaRPr lang="zh-CN" sz="15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" name="Line 40"/>
          <p:cNvSpPr/>
          <p:nvPr/>
        </p:nvSpPr>
        <p:spPr>
          <a:xfrm>
            <a:off x="609600" y="67818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980" y="295275"/>
            <a:ext cx="31302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225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PART 2 · 全局优化对象选型</a:t>
            </a:r>
            <a:endParaRPr lang="zh-CN" sz="1500" spc="225" dirty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898314" y="295275"/>
            <a:ext cx="6917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5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10 / 10</a:t>
            </a:r>
            <a:endParaRPr lang="en-US" sz="15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90550" y="689610"/>
            <a:ext cx="11406961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结论：四目标 + 双约束，显式管理指标权衡</a:t>
            </a:r>
            <a:endParaRPr lang="zh-CN" sz="4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00456" y="1443990"/>
            <a:ext cx="690719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用权重标量化 + 帕累托前沿报告，取代单一 Cost F 的隐性取舍</a:t>
            </a:r>
            <a:endParaRPr lang="zh-CN" sz="18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86" name="Group 86"/>
          <p:cNvGrpSpPr/>
          <p:nvPr/>
        </p:nvGrpSpPr>
        <p:grpSpPr>
          <a:xfrm>
            <a:off x="609600" y="1866900"/>
            <a:ext cx="10972800" cy="3505200"/>
            <a:chOff x="609600" y="1866900"/>
            <a:chExt cx="10972800" cy="3505200"/>
          </a:xfrm>
        </p:grpSpPr>
        <p:sp>
          <p:nvSpPr>
            <p:cNvPr id="6" name="Rectangle 6"/>
            <p:cNvSpPr/>
            <p:nvPr/>
          </p:nvSpPr>
          <p:spPr>
            <a:xfrm>
              <a:off x="609600" y="1866900"/>
              <a:ext cx="19050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2514600" y="1866900"/>
              <a:ext cx="13335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848100" y="1866900"/>
              <a:ext cx="49530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801100" y="1866900"/>
              <a:ext cx="27813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52550" y="19716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83052" y="1971675"/>
              <a:ext cx="1965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ID</a:t>
              </a:r>
              <a:endParaRPr lang="en-US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115050" y="19716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指标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578340" y="19716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是否优化对象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2286000"/>
              <a:ext cx="190500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514600" y="2286000"/>
              <a:ext cx="133350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848100" y="2286000"/>
              <a:ext cx="495300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801100" y="2286000"/>
              <a:ext cx="278130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73505" y="23593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利用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68879" y="2359342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U2</a:t>
              </a:r>
              <a:endParaRPr lang="en-US" sz="13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93642" y="2359342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装载率均值±标准差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12286" y="23593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主目标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09600" y="2628900"/>
              <a:ext cx="1905000" cy="3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514600" y="2628900"/>
              <a:ext cx="1333500" cy="3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848100" y="2628900"/>
              <a:ext cx="4953000" cy="3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801100" y="2628900"/>
              <a:ext cx="2781300" cy="3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373505" y="27022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利用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68879" y="2702242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U4</a:t>
              </a:r>
              <a:endParaRPr lang="en-US" sz="13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93642" y="27022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空驶率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12286" y="27022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主目标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9600" y="2971800"/>
              <a:ext cx="190500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514600" y="2971800"/>
              <a:ext cx="133350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848100" y="2971800"/>
              <a:ext cx="495300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801100" y="2971800"/>
              <a:ext cx="278130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373505" y="3045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响应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68879" y="3045142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T2</a:t>
              </a:r>
              <a:endParaRPr lang="en-US" sz="13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93642" y="3045142"/>
              <a:ext cx="20011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匹配响应 P50/P95/P99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04019" y="3045142"/>
              <a:ext cx="1175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主目标 (P95)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9600" y="3314700"/>
              <a:ext cx="1905000" cy="3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2514600" y="3314700"/>
              <a:ext cx="1333500" cy="3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848100" y="3314700"/>
              <a:ext cx="4953000" cy="3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801100" y="3314700"/>
              <a:ext cx="2781300" cy="3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373505" y="33880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成本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068879" y="3388042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C2</a:t>
              </a:r>
              <a:endParaRPr lang="en-US" sz="13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993642" y="33880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单位成本（裁决目标）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03334" y="3388042"/>
              <a:ext cx="11768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主目标 (裁决)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9600" y="3657600"/>
              <a:ext cx="190500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2514600" y="3657600"/>
              <a:ext cx="133350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3848100" y="3657600"/>
              <a:ext cx="495300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801100" y="3657600"/>
              <a:ext cx="278130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373505" y="37309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公平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068879" y="3730942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F1</a:t>
              </a:r>
              <a:endParaRPr lang="en-US" sz="13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993642" y="37309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基尼系数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912286" y="37309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软约束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9600" y="4000500"/>
              <a:ext cx="1905000" cy="3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2514600" y="4000500"/>
              <a:ext cx="1333500" cy="3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3848100" y="4000500"/>
              <a:ext cx="4953000" cy="3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801100" y="4000500"/>
              <a:ext cx="2781300" cy="3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373505" y="40738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绿色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068879" y="4073842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G2</a:t>
              </a:r>
              <a:endParaRPr lang="en-US" sz="13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993642" y="40738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单位吨公里碳排放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12286" y="40738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软约束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09600" y="4343400"/>
              <a:ext cx="190500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2514600" y="4343400"/>
              <a:ext cx="133350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3848100" y="4343400"/>
              <a:ext cx="495300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801100" y="4343400"/>
              <a:ext cx="278130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87269" y="4416742"/>
              <a:ext cx="949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利用 / 可靠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694432" y="4416742"/>
              <a:ext cx="9738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U3 · R4–R6</a:t>
              </a:r>
              <a:endParaRPr lang="en-US" sz="13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993642" y="4416742"/>
              <a:ext cx="30032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在线率 · 事故数 · 维修车 · 休息司机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821418" y="44167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风险监控</a:t>
              </a:r>
              <a:endPara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09600" y="4686300"/>
              <a:ext cx="1905000" cy="3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2514600" y="4686300"/>
              <a:ext cx="1333500" cy="3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3848100" y="4686300"/>
              <a:ext cx="4953000" cy="3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8801100" y="4686300"/>
              <a:ext cx="2781300" cy="3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87269" y="4759642"/>
              <a:ext cx="949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公平 / 算法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2852852" y="4759642"/>
              <a:ext cx="6569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F2 · A3</a:t>
              </a:r>
              <a:endParaRPr lang="en-US" sz="13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3993642" y="4759642"/>
              <a:ext cx="15135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拒单数 · 优化 Gap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626051" y="4759642"/>
              <a:ext cx="1131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监控 / 算法层</a:t>
              </a:r>
              <a:endPara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09600" y="5029200"/>
              <a:ext cx="190500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2514600" y="5029200"/>
              <a:ext cx="133350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3848100" y="5029200"/>
              <a:ext cx="495300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8801100" y="5029200"/>
              <a:ext cx="278130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373505" y="51025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其余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875155" y="5102542"/>
              <a:ext cx="206756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M1–M4·C1·C3·S·R1–R3·F3</a:t>
              </a:r>
              <a:endParaRPr lang="en-US" sz="13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3993642" y="5102542"/>
              <a:ext cx="42190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精准度 / 基线 / ROI / 周期 / MTBF 等（待落地）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912286" y="51025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待落地</a:t>
              </a:r>
              <a:endPara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7" name="Rectangle 87"/>
          <p:cNvSpPr/>
          <p:nvPr/>
        </p:nvSpPr>
        <p:spPr>
          <a:xfrm>
            <a:off x="609600" y="5676900"/>
            <a:ext cx="10972800" cy="609600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90" name="Group 90"/>
          <p:cNvGrpSpPr/>
          <p:nvPr/>
        </p:nvGrpSpPr>
        <p:grpSpPr>
          <a:xfrm>
            <a:off x="947738" y="5900738"/>
            <a:ext cx="200026" cy="200026"/>
            <a:chOff x="947738" y="5900738"/>
            <a:chExt cx="200026" cy="200026"/>
          </a:xfrm>
        </p:grpSpPr>
        <p:sp>
          <p:nvSpPr>
            <p:cNvPr id="88" name="Freeform 88"/>
            <p:cNvSpPr/>
            <p:nvPr/>
          </p:nvSpPr>
          <p:spPr>
            <a:xfrm>
              <a:off x="947738" y="5900738"/>
              <a:ext cx="200026" cy="200026"/>
            </a:xfrm>
            <a:custGeom>
              <a:avLst/>
              <a:gdLst/>
              <a:ahLst/>
              <a:cxnLst/>
              <a:rect l="l" t="t" r="r" b="b"/>
              <a:pathLst>
                <a:path w="200026" h="200026">
                  <a:moveTo>
                    <a:pt x="0" y="100013"/>
                  </a:moveTo>
                  <a:cubicBezTo>
                    <a:pt x="0" y="155248"/>
                    <a:pt x="44777" y="200026"/>
                    <a:pt x="100013" y="200026"/>
                  </a:cubicBezTo>
                  <a:cubicBezTo>
                    <a:pt x="155248" y="200026"/>
                    <a:pt x="200026" y="155248"/>
                    <a:pt x="200026" y="100013"/>
                  </a:cubicBezTo>
                  <a:cubicBezTo>
                    <a:pt x="200026" y="44777"/>
                    <a:pt x="155248" y="0"/>
                    <a:pt x="100013" y="0"/>
                  </a:cubicBezTo>
                  <a:cubicBezTo>
                    <a:pt x="44777" y="0"/>
                    <a:pt x="0" y="44777"/>
                    <a:pt x="0" y="100013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89" name="Freeform 89"/>
            <p:cNvSpPr/>
            <p:nvPr/>
          </p:nvSpPr>
          <p:spPr>
            <a:xfrm>
              <a:off x="1014413" y="5978525"/>
              <a:ext cx="66675" cy="44450"/>
            </a:xfrm>
            <a:custGeom>
              <a:avLst/>
              <a:gdLst/>
              <a:ahLst/>
              <a:cxnLst/>
              <a:rect l="l" t="t" r="r" b="b"/>
              <a:pathLst>
                <a:path w="66675" h="44450">
                  <a:moveTo>
                    <a:pt x="0" y="22225"/>
                  </a:moveTo>
                  <a:lnTo>
                    <a:pt x="22225" y="44450"/>
                  </a:lnTo>
                  <a:lnTo>
                    <a:pt x="6667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sp>
        <p:nvSpPr>
          <p:cNvPr id="91" name="TextBox 91"/>
          <p:cNvSpPr txBox="1"/>
          <p:nvPr/>
        </p:nvSpPr>
        <p:spPr>
          <a:xfrm>
            <a:off x="1324356" y="58635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不存在全指标最优单解</a:t>
            </a:r>
            <a:endParaRPr lang="zh-CN" sz="18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2" name="TextBox 92"/>
          <p:cNvSpPr txBox="1"/>
          <p:nvPr/>
        </p:nvSpPr>
        <p:spPr>
          <a:xfrm>
            <a:off x="1326642" y="6102668"/>
            <a:ext cx="645612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4F7FA"/>
                </a:solidFill>
                <a:latin typeface="+mn-lt"/>
                <a:ea typeface="+mn-ea"/>
                <a:cs typeface="+mn-cs"/>
              </a:rPr>
              <a:t>C2 裁决 + U2/U4/T2 主目标 + F1/G2 软约束——帕累托前沿显式呈现经营取舍</a:t>
            </a:r>
            <a:endParaRPr lang="zh-CN" sz="1350" dirty="0">
              <a:solidFill>
                <a:srgbClr val="F4F7F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3" name="Line 93"/>
          <p:cNvSpPr/>
          <p:nvPr/>
        </p:nvSpPr>
        <p:spPr>
          <a:xfrm>
            <a:off x="609600" y="6572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94" name="TextBox 94"/>
          <p:cNvSpPr txBox="1"/>
          <p:nvPr/>
        </p:nvSpPr>
        <p:spPr>
          <a:xfrm>
            <a:off x="603504" y="6652260"/>
            <a:ext cx="42664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Source: 统计指标总结与全局优化对象.md · 附录指标总表</a:t>
            </a:r>
            <a:endParaRPr lang="zh-CN" sz="12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433"/>
      </a:dk1>
      <a:lt1>
        <a:srgbClr val="FFFFFF"/>
      </a:lt1>
      <a:dk2>
        <a:srgbClr val="5A6B7B"/>
      </a:dk2>
      <a:lt2>
        <a:srgbClr val="F4F7FA"/>
      </a:lt2>
      <a:accent1>
        <a:srgbClr val="0F2B46"/>
      </a:accent1>
      <a:accent2>
        <a:srgbClr val="00B0F0"/>
      </a:accent2>
      <a:accent3>
        <a:srgbClr val="2E7CF6"/>
      </a:accent3>
      <a:accent4>
        <a:srgbClr val="D7E0E8"/>
      </a:accent4>
      <a:accent5>
        <a:srgbClr val="1F9D55"/>
      </a:accent5>
      <a:accent6>
        <a:srgbClr val="E5533C"/>
      </a:accent6>
      <a:hlink>
        <a:srgbClr val="00B0F0"/>
      </a:hlink>
      <a:folHlink>
        <a:srgbClr val="2E7CF6"/>
      </a:folHlink>
    </a:clrScheme>
    <a:fontScheme name="PPT Master">
      <a:majorFont>
        <a:latin typeface="Arial"/>
        <a:ea typeface="SimHei"/>
        <a:cs typeface="Arial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433"/>
      </a:dk1>
      <a:lt1>
        <a:srgbClr val="FFFFFF"/>
      </a:lt1>
      <a:dk2>
        <a:srgbClr val="5A6B7B"/>
      </a:dk2>
      <a:lt2>
        <a:srgbClr val="F4F7FA"/>
      </a:lt2>
      <a:accent1>
        <a:srgbClr val="0F2B46"/>
      </a:accent1>
      <a:accent2>
        <a:srgbClr val="00B0F0"/>
      </a:accent2>
      <a:accent3>
        <a:srgbClr val="2E7CF6"/>
      </a:accent3>
      <a:accent4>
        <a:srgbClr val="D7E0E8"/>
      </a:accent4>
      <a:accent5>
        <a:srgbClr val="1F9D55"/>
      </a:accent5>
      <a:accent6>
        <a:srgbClr val="E5533C"/>
      </a:accent6>
      <a:hlink>
        <a:srgbClr val="00B0F0"/>
      </a:hlink>
      <a:folHlink>
        <a:srgbClr val="2E7CF6"/>
      </a:folHlink>
    </a:clrScheme>
    <a:fontScheme name="PPT Master">
      <a:majorFont>
        <a:latin typeface="Arial"/>
        <a:ea typeface="SimHei"/>
        <a:cs typeface="Arial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3602</Words>
  <Application>WPS 演示</Application>
  <PresentationFormat>On-screen Show (16:9)</PresentationFormat>
  <Paragraphs>508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Arial</vt:lpstr>
      <vt:lpstr>Consolas</vt:lpstr>
      <vt:lpstr>微软雅黑</vt:lpstr>
      <vt:lpstr>黑体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溟湮丶熵落</cp:lastModifiedBy>
  <cp:revision>3</cp:revision>
  <dcterms:created xsi:type="dcterms:W3CDTF">2026-09-07T11:37:00Z</dcterms:created>
  <dcterms:modified xsi:type="dcterms:W3CDTF">2026-09-07T13:52:07Z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9A981D20BE0E4ED0BDDCD6505F767768_12</vt:lpwstr>
  </property>
  <property fmtid="{D5CDD505-2E9C-101B-9397-08002B2CF9AE}" pid="3" name="KSOProductBuildVer">
    <vt:lpwstr>2052-12.1.0.28505</vt:lpwstr>
  </property>
</Properties>
</file>